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c4c29236edf4ad2" Type="http://schemas.openxmlformats.org/package/2006/relationships/metadata/core-properties" Target="docProps/core.xml"/><Relationship Id="R70b500f6916d4d50" Type="http://schemas.openxmlformats.org/officeDocument/2006/relationships/extended-properties" Target="docProps/app.xml"/><Relationship Id="Rd739b9bf36bd4a0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8a5c36824418e"/>
  </p:sldMasterIdLst>
  <p:notesMasterIdLst>
    <p:notesMasterId xmlns:r="http://schemas.openxmlformats.org/officeDocument/2006/relationships" r:id="R565cf14bc9904ee7"/>
  </p:notesMasterIdLst>
  <p:sldIdLst>
    <p:sldId xmlns:r="http://schemas.openxmlformats.org/officeDocument/2006/relationships" id="256" r:id="R7964a856f536470b"/>
    <p:sldId xmlns:r="http://schemas.openxmlformats.org/officeDocument/2006/relationships" id="257" r:id="Rad4fc34f73ca4d07"/>
    <p:sldId xmlns:r="http://schemas.openxmlformats.org/officeDocument/2006/relationships" id="258" r:id="R05075c61122c44d3"/>
    <p:sldId xmlns:r="http://schemas.openxmlformats.org/officeDocument/2006/relationships" id="259" r:id="R5cd745ae093c4c60"/>
    <p:sldId xmlns:r="http://schemas.openxmlformats.org/officeDocument/2006/relationships" id="260" r:id="R92231d39ba794684"/>
    <p:sldId xmlns:r="http://schemas.openxmlformats.org/officeDocument/2006/relationships" id="261" r:id="Rbb4a0aef529044a5"/>
    <p:sldId xmlns:r="http://schemas.openxmlformats.org/officeDocument/2006/relationships" id="269" r:id="rId2"/>
    <p:sldId xmlns:r="http://schemas.openxmlformats.org/officeDocument/2006/relationships" id="262" r:id="R1d1947e974e14969"/>
    <p:sldId xmlns:r="http://schemas.openxmlformats.org/officeDocument/2006/relationships" id="268" r:id="rId1"/>
    <p:sldId xmlns:r="http://schemas.openxmlformats.org/officeDocument/2006/relationships" id="263" r:id="R1e2cd040a7204ded"/>
    <p:sldId xmlns:r="http://schemas.openxmlformats.org/officeDocument/2006/relationships" id="264" r:id="R9573238189ac4f15"/>
    <p:sldId xmlns:r="http://schemas.openxmlformats.org/officeDocument/2006/relationships" id="265" r:id="Ra5b5c7cf59404f4e"/>
    <p:sldId xmlns:r="http://schemas.openxmlformats.org/officeDocument/2006/relationships" id="266" r:id="Rfde17188f1fc4cf8"/>
    <p:sldId xmlns:r="http://schemas.openxmlformats.org/officeDocument/2006/relationships" id="267" r:id="R1969fa212324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075c61122c44d3" Type="http://schemas.openxmlformats.org/officeDocument/2006/relationships/slide" Target="slides/slide3.xml"/><Relationship Id="R1969fa212324496e" Type="http://schemas.openxmlformats.org/officeDocument/2006/relationships/slide" Target="slides/slide14.xml"/><Relationship Id="R1d1947e974e14969" Type="http://schemas.openxmlformats.org/officeDocument/2006/relationships/slide" Target="slides/slide8.xml"/><Relationship Id="R1e2cd040a7204ded" Type="http://schemas.openxmlformats.org/officeDocument/2006/relationships/slide" Target="slides/slide10.xml"/><Relationship Id="R565cf14bc9904ee7" Type="http://schemas.openxmlformats.org/officeDocument/2006/relationships/notesMaster" Target="notesMasters/notesMaster1.xml"/><Relationship Id="R5cd745ae093c4c60" Type="http://schemas.openxmlformats.org/officeDocument/2006/relationships/slide" Target="slides/slide4.xml"/><Relationship Id="R7964a856f536470b" Type="http://schemas.openxmlformats.org/officeDocument/2006/relationships/slide" Target="slides/slide1.xml"/><Relationship Id="R92231d39ba794684" Type="http://schemas.openxmlformats.org/officeDocument/2006/relationships/slide" Target="slides/slide5.xml"/><Relationship Id="R93915de22e554583" Type="http://schemas.openxmlformats.org/officeDocument/2006/relationships/presProps" Target="presProps.xml"/><Relationship Id="R9573238189ac4f15" Type="http://schemas.openxmlformats.org/officeDocument/2006/relationships/slide" Target="slides/slide11.xml"/><Relationship Id="Ra5b5c7cf59404f4e" Type="http://schemas.openxmlformats.org/officeDocument/2006/relationships/slide" Target="slides/slide12.xml"/><Relationship Id="Rad4fc34f73ca4d07" Type="http://schemas.openxmlformats.org/officeDocument/2006/relationships/slide" Target="slides/slide2.xml"/><Relationship Id="Rb278a5c36824418e" Type="http://schemas.openxmlformats.org/officeDocument/2006/relationships/slideMaster" Target="slideMasters/slideMaster1.xml"/><Relationship Id="Rbb4a0aef529044a5" Type="http://schemas.openxmlformats.org/officeDocument/2006/relationships/slide" Target="slides/slide6.xml"/><Relationship Id="Rd743b93aff8842b7" Type="http://schemas.openxmlformats.org/officeDocument/2006/relationships/tableStyles" Target="tableStyles.xml"/><Relationship Id="Rdcaac1669b2c4d69" Type="http://schemas.openxmlformats.org/officeDocument/2006/relationships/theme" Target="theme/theme1.xml"/><Relationship Id="Rfde17188f1fc4cf8" Type="http://schemas.openxmlformats.org/officeDocument/2006/relationships/slide" Target="slides/slide13.xml"/><Relationship Id="rId1" Type="http://schemas.openxmlformats.org/officeDocument/2006/relationships/slide" Target="slides/slide9.xml"/><Relationship Id="rId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3294B"/>
                </a:solidFill>
                <a:latin typeface="Arial"/>
              </a:rPr>
              <a:t>Probe AUROC at each layer (window 14 to 19 fixed in advance)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 of memory result (primary)</c:v>
                </c:pt>
              </c:strCache>
            </c:strRef>
          </c:tx>
          <c:spPr>
            <a:ln w="28575">
              <a:solidFill>
                <a:srgbClr val="FF5F05"/>
              </a:solidFill>
            </a:ln>
          </c:spPr>
          <c:marker>
            <c:symbol val="circle"/>
            <c:size val="5"/>
            <c:spPr>
              <a:solidFill>
                <a:srgbClr val="FF5F05"/>
              </a:solidFill>
              <a:ln>
                <a:solidFill>
                  <a:srgbClr val="FF5F05"/>
                </a:solidFill>
              </a:ln>
            </c:spPr>
          </c:marker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0.5</c:v>
                </c:pt>
                <c:pt idx="1">
                  <c:v>0.94</c:v>
                </c:pt>
                <c:pt idx="2">
                  <c:v>0.84</c:v>
                </c:pt>
                <c:pt idx="3">
                  <c:v>0.83</c:v>
                </c:pt>
                <c:pt idx="4">
                  <c:v>0.84</c:v>
                </c:pt>
                <c:pt idx="5">
                  <c:v>0.83</c:v>
                </c:pt>
                <c:pt idx="6">
                  <c:v>0.91</c:v>
                </c:pt>
                <c:pt idx="7">
                  <c:v>0.9</c:v>
                </c:pt>
                <c:pt idx="8">
                  <c:v>0.94</c:v>
                </c:pt>
                <c:pt idx="9">
                  <c:v>0.95</c:v>
                </c:pt>
                <c:pt idx="10">
                  <c:v>0.98</c:v>
                </c:pt>
                <c:pt idx="11">
                  <c:v>0.99</c:v>
                </c:pt>
                <c:pt idx="12">
                  <c:v>0.99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1.0</c:v>
                </c:pt>
                <c:pt idx="21">
                  <c:v>1.0</c:v>
                </c:pt>
                <c:pt idx="22">
                  <c:v>0.99</c:v>
                </c:pt>
                <c:pt idx="23">
                  <c:v>0.99</c:v>
                </c:pt>
                <c:pt idx="24">
                  <c:v>0.99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token of the note</c:v>
                </c:pt>
              </c:strCache>
            </c:strRef>
          </c:tx>
          <c:spPr>
            <a:ln w="28575">
              <a:solidFill>
                <a:srgbClr val="13294B"/>
              </a:solidFill>
            </a:ln>
          </c:spPr>
          <c:marker>
            <c:symbol val="circle"/>
            <c:size val="5"/>
            <c:spPr>
              <a:solidFill>
                <a:srgbClr val="13294B"/>
              </a:solidFill>
              <a:ln>
                <a:solidFill>
                  <a:srgbClr val="13294B"/>
                </a:solidFill>
              </a:ln>
            </c:spPr>
          </c:marker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0.52</c:v>
                </c:pt>
                <c:pt idx="1">
                  <c:v>0.66</c:v>
                </c:pt>
                <c:pt idx="2">
                  <c:v>0.73</c:v>
                </c:pt>
                <c:pt idx="3">
                  <c:v>0.82</c:v>
                </c:pt>
                <c:pt idx="4">
                  <c:v>0.86</c:v>
                </c:pt>
                <c:pt idx="5">
                  <c:v>0.92</c:v>
                </c:pt>
                <c:pt idx="6">
                  <c:v>0.93</c:v>
                </c:pt>
                <c:pt idx="7">
                  <c:v>0.94</c:v>
                </c:pt>
                <c:pt idx="8">
                  <c:v>0.92</c:v>
                </c:pt>
                <c:pt idx="9">
                  <c:v>0.93</c:v>
                </c:pt>
                <c:pt idx="10">
                  <c:v>0.95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1.0</c:v>
                </c:pt>
                <c:pt idx="21">
                  <c:v>0.99</c:v>
                </c:pt>
                <c:pt idx="22">
                  <c:v>0.99</c:v>
                </c:pt>
                <c:pt idx="23">
                  <c:v>0.99</c:v>
                </c:pt>
                <c:pt idx="24">
                  <c:v>0.99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Chance</c:v>
                </c:pt>
              </c:strCache>
            </c:strRef>
          </c:tx>
          <c:spPr>
            <a:ln w="15875">
              <a:solidFill>
                <a:srgbClr val="67758A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67758A"/>
                    </a:solidFill>
                    <a:latin typeface="Arial"/>
                  </a:rPr>
                  <a:t>Layer (0 = embeddings)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67758A"/>
            </a:solidFill>
          </a:ln>
        </c:spPr>
        <c:txPr>
          <a:bodyPr/>
          <a:lstStyle/>
          <a:p>
            <a:pPr>
              <a:defRPr sz="1000">
                <a:solidFill>
                  <a:srgbClr val="67758A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4"/>
        </c:scaling>
        <c:delete val="0"/>
        <c:axPos val="l"/>
        <c:majorGridlines>
          <c:spPr>
            <a:ln>
              <a:solidFill>
                <a:srgbClr val="D6DCE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7758A"/>
                </a:solidFill>
                <a:latin typeface="Arial"/>
              </a:defRPr>
            </a:pPr>
          </a:p>
        </c:txPr>
        <c:crossAx val="2118791784"/>
        <c:crosses val="autoZero"/>
        <c:majorUnit val="0.1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3294B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3294B"/>
                </a:solidFill>
                <a:latin typeface="Arial"/>
              </a:rPr>
              <a:t>Predicting whether the agent obeys (AUROC)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Predicting whether the agent obeys (AUROC)</c:v>
                </c:pt>
              </c:strCache>
            </c:strRef>
          </c:tx>
          <c:dPt>
            <c:idx val="0"/>
            <c:spPr>
              <a:solidFill>
                <a:srgbClr val="FF5F05"/>
              </a:solidFill>
            </c:spPr>
          </c:dPt>
          <c:dPt>
            <c:idx val="1"/>
            <c:spPr>
              <a:solidFill>
                <a:srgbClr val="13294B"/>
              </a:solidFill>
            </c:spPr>
          </c:dPt>
          <c:dPt>
            <c:idx val="2"/>
            <c:spPr>
              <a:solidFill>
                <a:srgbClr val="13294B"/>
              </a:solidFill>
            </c:spPr>
          </c:dPt>
          <c:dPt>
            <c:idx val="3"/>
            <c:spPr>
              <a:solidFill>
                <a:srgbClr val="67758A"/>
              </a:solidFill>
            </c:spPr>
          </c:dPt>
          <c:cat>
            <c:strRef>
              <c:f>Sheet1!$A$2:$A$5</c:f>
              <c:strCache>
                <c:ptCount val="4"/>
                <c:pt idx="0">
                  <c:v>Activation probe</c:v>
                </c:pt>
                <c:pt idx="1">
                  <c:v>TF-IDF, full prompt</c:v>
                </c:pt>
                <c:pt idx="2">
                  <c:v>TF-IDF, note only</c:v>
                </c:pt>
                <c:pt idx="3">
                  <c:v>Wording 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0.876</c:v>
                </c:pt>
                <c:pt idx="1">
                  <c:v>0.814</c:v>
                </c:pt>
                <c:pt idx="2">
                  <c:v>0.781</c:v>
                </c:pt>
                <c:pt idx="3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13294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7758A"/>
            </a:solidFill>
          </a:ln>
        </c:spPr>
        <c:txPr>
          <a:bodyPr/>
          <a:lstStyle/>
          <a:p>
            <a:pPr>
              <a:defRPr sz="1200">
                <a:solidFill>
                  <a:srgbClr val="13294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D6DCE5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7758A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3294B"/>
                </a:solidFill>
                <a:latin typeface="Arial"/>
              </a:rPr>
              <a:t>Obeyed in at least 4 of 8 rollouts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Obeyed in at least 4 of 8 rollouts</c:v>
                </c:pt>
              </c:strCache>
            </c:strRef>
          </c:tx>
          <c:dPt>
            <c:idx val="0"/>
            <c:spPr>
              <a:solidFill>
                <a:srgbClr val="FF5F05"/>
              </a:solidFill>
            </c:spPr>
          </c:dPt>
          <c:dPt>
            <c:idx val="1"/>
            <c:spPr>
              <a:solidFill>
                <a:srgbClr val="FF5F05"/>
              </a:solidFill>
            </c:spPr>
          </c:dPt>
          <c:dPt>
            <c:idx val="2"/>
            <c:spPr>
              <a:solidFill>
                <a:srgbClr val="13294B"/>
              </a:solidFill>
            </c:spPr>
          </c:dPt>
          <c:dPt>
            <c:idx val="3"/>
            <c:spPr>
              <a:solidFill>
                <a:srgbClr val="13294B"/>
              </a:solidFill>
            </c:spPr>
          </c:dPt>
          <c:dPt>
            <c:idx val="4"/>
            <c:spPr>
              <a:solidFill>
                <a:srgbClr val="13294B"/>
              </a:solidFill>
            </c:spPr>
          </c:dPt>
          <c:dPt>
            <c:idx val="5"/>
            <c:spPr>
              <a:solidFill>
                <a:srgbClr val="13294B"/>
              </a:solidFill>
            </c:spPr>
          </c:dPt>
          <c:cat>
            <c:strRef>
              <c:f>Sheet1!$A$2:$A$7</c:f>
              <c:strCache>
                <c:ptCount val="6"/>
                <c:pt idx="0">
                  <c:v>W0 “in the same turn”</c:v>
                </c:pt>
                <c:pt idx="1">
                  <c:v>W3 “part of the current turn”</c:v>
                </c:pt>
                <c:pt idx="2">
                  <c:v>W2 “the next request”</c:v>
                </c:pt>
                <c:pt idx="3">
                  <c:v>W5 “when you next respond”</c:v>
                </c:pt>
                <c:pt idx="4">
                  <c:v>W1 “whatever the user asks next”</c:v>
                </c:pt>
                <c:pt idx="5">
                  <c:v>W4 “next time memory is read”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0.919</c:v>
                </c:pt>
                <c:pt idx="1">
                  <c:v>0.743</c:v>
                </c:pt>
                <c:pt idx="2">
                  <c:v>0.101</c:v>
                </c:pt>
                <c:pt idx="3">
                  <c:v>0.095</c:v>
                </c:pt>
                <c:pt idx="4">
                  <c:v>0.068</c:v>
                </c:pt>
                <c:pt idx="5">
                  <c:v>0.007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13294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7758A"/>
            </a:solidFill>
          </a:ln>
        </c:spPr>
        <c:txPr>
          <a:bodyPr/>
          <a:lstStyle/>
          <a:p>
            <a:pPr>
              <a:defRPr sz="1200">
                <a:solidFill>
                  <a:srgbClr val="13294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D6DC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7758A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7676aaccf96a4a4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1ee180138434f8f" Type="http://schemas.openxmlformats.org/officeDocument/2006/relationships/slide" Target="../slides/slide1.xml"/><Relationship Id="Rab904cefa969419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d9615d6c2e9437a" Type="http://schemas.openxmlformats.org/officeDocument/2006/relationships/notesMaster" Target="../notesMasters/notesMaster1.xml"/><Relationship Id="R98bb2d7053e94ec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433ede618314bc0" Type="http://schemas.openxmlformats.org/officeDocument/2006/relationships/notesMaster" Target="../notesMasters/notesMaster1.xml"/><Relationship Id="R9ea8b81c5cba4fa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8a55bc3cb9c4c30" Type="http://schemas.openxmlformats.org/officeDocument/2006/relationships/slide" Target="../slides/slide4.xml"/><Relationship Id="Ra6d2bd39aa6d438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1acc0704e1a48f5" Type="http://schemas.openxmlformats.org/officeDocument/2006/relationships/slide" Target="../slides/slide5.xml"/><Relationship Id="Rfea435589afc498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9288014fab064bb6" Type="http://schemas.openxmlformats.org/officeDocument/2006/relationships/slide" Target="../slides/slide6.xml"/><Relationship Id="Rc6aa5f2eb23b4c3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01a77593038430b" Type="http://schemas.openxmlformats.org/officeDocument/2006/relationships/notesMaster" Target="../notesMasters/notesMaster1.xml"/><Relationship Id="Rdc58ced9a5c84a89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0c2038e260a64d16" Type="http://schemas.openxmlformats.org/officeDocument/2006/relationships/slide" Target="../slides/slide10.xml"/><Relationship Id="R6d6f2a73317d4d1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b8eaa47e45846ab" Type="http://schemas.openxmlformats.org/officeDocument/2006/relationships/slide" Target="../slides/slide11.xml"/><Relationship Id="Rfa332feb579a41c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09d8626f5e14ad6" Type="http://schemas.openxmlformats.org/officeDocument/2006/relationships/slide" Target="../slides/slide12.xml"/><Relationship Id="Rfb2765d1cb834ac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14f1420191c402e" Type="http://schemas.openxmlformats.org/officeDocument/2006/relationships/slide" Target="../slides/slide13.xml"/><Relationship Id="Rb08b9e74ed29440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d5bbad4989e4754" Type="http://schemas.openxmlformats.org/officeDocument/2006/relationships/slide" Target="../slides/slide14.xml"/><Relationship Id="Re486fe53c3b4486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in one line: reading gpt-oss-20b's activations to predict whether a memory-poisoned agent will act on a planted instruction, before it 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question and the headline number. The open question is whether the probe reads a decision or just reads text better.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Sleeper attacks plant an instruction in agent memory that fires later. Text guards spot the poison but not whether it will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on Huy Pham's behavior_v1 dataset and gptoss.py harness. Layer window and splits were fixed before any activations existed.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vs inert was a warm-up: the probe and text both score about 1.0, which validated the pipeline. The fired task is the real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note in the fired task is a live attack; the label is whether the agent executed it in at least 4 of 8 rollouts.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Fairest comparison: whole cases held out, only notes with the same wording compared. Beats note text significantly; full prompt gap not yet significant. This analysis is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Controls behave as expected. The main open threat is a stronger text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upfront that E3 failed because held-out wordings almost never fire.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steps: fair baselines, timing minimal pairs with many new wordings, then a causal steering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input on these three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Everything reproduces from the GitHub branch; the analysis runs on a laptop.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231ae2eaae9427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f1ae0e139eb476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c8cf1d22917405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f185fcb6c9449c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66e090264e3c442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2c8279ead89464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AE317-CB80-4B20-9A7A-9D2E09FAF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FE2480-57FA-4028-8D81-1013CB7C07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B1CA14-C2E8-4954-803F-4210D48AA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03A40A-37A4-45C8-A4A2-93F78FFA0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5E19AE-62C2-4B79-BD5A-6F76AD6EE8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E0B309-BF48-412D-902A-CDD780364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B54E57-BBA2-42DC-9853-B5F9E9F58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460022-728D-443E-BC1D-5B2F681551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A79BED-9E0F-4116-9430-437D06BD8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D3667B-EAB0-4FAE-A254-B3310F5DC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cdc325f9b314f55" Type="http://schemas.openxmlformats.org/officeDocument/2006/relationships/slideLayout" Target="../slideLayouts/slideLayout1.xml"/><Relationship Id="R689f8f269a224103" Type="http://schemas.openxmlformats.org/officeDocument/2006/relationships/slideLayout" Target="../slideLayouts/slideLayout6.xml"/><Relationship Id="R93495d77bc8d4b95" Type="http://schemas.openxmlformats.org/officeDocument/2006/relationships/slideLayout" Target="../slideLayouts/slideLayout2.xml"/><Relationship Id="R9fb8bd33d6cb40d6" Type="http://schemas.openxmlformats.org/officeDocument/2006/relationships/slideLayout" Target="../slideLayouts/slideLayout5.xml"/><Relationship Id="Ra4721e2a72174a9e" Type="http://schemas.openxmlformats.org/officeDocument/2006/relationships/slideLayout" Target="../slideLayouts/slideLayout4.xml"/><Relationship Id="Ra5d2ade9e5954261" Type="http://schemas.openxmlformats.org/officeDocument/2006/relationships/theme" Target="theme/theme2.xml"/><Relationship Id="Rd735f6407fc14bb7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c325f9b314f55"/>
    <p:sldLayoutId xmlns:r="http://schemas.openxmlformats.org/officeDocument/2006/relationships" id="2147483650" r:id="R93495d77bc8d4b95"/>
    <p:sldLayoutId xmlns:r="http://schemas.openxmlformats.org/officeDocument/2006/relationships" id="2147483651" r:id="Rd735f6407fc14bb7"/>
    <p:sldLayoutId xmlns:r="http://schemas.openxmlformats.org/officeDocument/2006/relationships" id="2147483652" r:id="Ra4721e2a72174a9e"/>
    <p:sldLayoutId xmlns:r="http://schemas.openxmlformats.org/officeDocument/2006/relationships" id="2147483653" r:id="R9fb8bd33d6cb40d6"/>
    <p:sldLayoutId xmlns:r="http://schemas.openxmlformats.org/officeDocument/2006/relationships" id="2147483654" r:id="R689f8f269a22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db40f00e472486b" Type="http://schemas.openxmlformats.org/officeDocument/2006/relationships/notesSlide" Target="../notesSlides/notesSlide1.xml"/><Relationship Id="R91bb64ba32604d1b" Type="http://schemas.openxmlformats.org/officeDocument/2006/relationships/slideLayout" Target="../slideLayouts/slideLayout6.xml"/><Relationship Id="Rbbecd53d7b484831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a11f5e505594e30" Type="http://schemas.openxmlformats.org/officeDocument/2006/relationships/slideLayout" Target="../slideLayouts/slideLayout6.xml"/><Relationship Id="Rdd1ffe0effcc4c8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7d4db6d6ae541b0" Type="http://schemas.openxmlformats.org/officeDocument/2006/relationships/slideLayout" Target="../slideLayouts/slideLayout6.xml"/><Relationship Id="R6130226a442e422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02aab0496144440" Type="http://schemas.openxmlformats.org/officeDocument/2006/relationships/slideLayout" Target="../slideLayouts/slideLayout6.xml"/><Relationship Id="R81d4b05a4ce64b7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d17737e1abee476d" Type="http://schemas.openxmlformats.org/officeDocument/2006/relationships/slideLayout" Target="../slideLayouts/slideLayout6.xml"/><Relationship Id="Rdde1792a5d7540b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f483bfe94f149a6" Type="http://schemas.openxmlformats.org/officeDocument/2006/relationships/notesSlide" Target="../notesSlides/notesSlide6.xml"/><Relationship Id="R78ee338b236e4b5a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498cd30c3fa04beb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3a566bab3f1d4ce3" Type="http://schemas.openxmlformats.org/officeDocument/2006/relationships/notesSlide" Target="../notesSlides/notesSlide7.xml"/><Relationship Id="R498cd30c3fa04beb" Type="http://schemas.openxmlformats.org/officeDocument/2006/relationships/slideLayout" Target="../slideLayouts/slideLayout6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498cd30c3fa04beb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1875c59a08cf4e8e" Type="http://schemas.openxmlformats.org/officeDocument/2006/relationships/slideLayout" Target="../slideLayouts/slideLayout6.xml"/><Relationship Id="Re5b0537edd75476b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1e2494c819844686" Type="http://schemas.openxmlformats.org/officeDocument/2006/relationships/slideLayout" Target="../slideLayouts/slideLayout6.xml"/><Relationship Id="R72d201e888084f5d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646026abd8b94ba5" Type="http://schemas.openxmlformats.org/officeDocument/2006/relationships/notesSlide" Target="../notesSlides/notesSlide10.xml"/><Relationship Id="Rded38aad92044dd0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0514119ecf084f5d" Type="http://schemas.openxmlformats.org/officeDocument/2006/relationships/notesSlide" Target="../notesSlides/notesSlide11.xml"/><Relationship Id="Rc66c27230e5e42b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7b017acdd558479e" Type="http://schemas.openxmlformats.org/officeDocument/2006/relationships/notesSlide" Target="../notesSlides/notesSlide12.xml"/><Relationship Id="Rab0aa2d5742b4938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EA8DC-355C-4D70-8AAC-2D207C8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2DFCA-CED0-4882-9CFA-364976C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AIA @ ILLINOIS  /  FALL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99395-6DDB-4E2E-835D-4D64474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Midpoint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BF819-A5B8-43C5-AC04-D21822C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A8281-D470-42CF-AF63-5819A53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9FB00-5DE5-4C63-A49E-FD724AAD8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cd53d7b484831"/>
          <a:stretch xmlns:a="http://schemas.openxmlformats.org/drawingml/2006/main"/>
        </p:blipFill>
        <p:spPr>
          <a:xfrm xmlns:a="http://schemas.openxmlformats.org/drawingml/2006/main">
            <a:off x="9239250" y="171450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49790-F9E3-465A-A0A4-0358507D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5F05"/>
                </a:solidFill>
                <a:latin typeface="Arial"/>
                <a:ea typeface="Arial"/>
                <a:cs typeface="Arial"/>
              </a:rPr>
              <a:t>Reading the agent's mind: can probes predict when a poisoned memory will fire?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D238-160A-476A-B50C-19EF9B5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FFFFFF"/>
                </a:solidFill>
                <a:latin typeface="Arial"/>
              </a:rPr>
              <a:t>Raghav Agarwal (raghava7@illinois.edu)  ·  Huy Pham (huynp2@illinois.edu)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FFFFFF"/>
                </a:solidFill>
                <a:latin typeface="Arial"/>
              </a:rPr>
              <a:t>Mentors: Enyi Jiang, Himnish Hunma  ·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94751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A1030-6BBE-4EAD-9A13-503DD02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613C-7E4D-4014-9F15-BF85C231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F68FC-7BE3-4EA4-80AA-9F4D398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What we know at the midpoint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96FD6-69B4-4759-8023-95285B86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BEA2-B403-4520-8D9C-00F8B0AF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0C7A-449D-41BC-BEB5-F8B7406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B49DD-D51C-4531-8BDD-5CA2640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Can a linear probe on gpt-oss-20b's activations predict, before the agent acts, whether it will obey a planted memory note, better than reading the text?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B0D9D-DA71-4348-8104-05E1A84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CURRENT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C87C2-10EA-4153-B306-BCABC48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On held-out cases with the same wording, the probe scores AUROC 0.88 vs 0.81 for the best text baseline. A guard model (Jev) is near chance.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F7CCE-5AE5-491F-8AF9-FCEEDCA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NEXT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0D1E-DDE0-4A4A-A632-41F57288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Is the probe reading the model's decision, or just reading text better? Stronger text baselines and timing minimal pairs will tell.</a:t>
            </a:r>
          </a:p>
        </p:txBody>
      </p:sp>
    </p:spTree>
    <p:extLst>
      <p:ext uri="{BB962C8B-B14F-4D97-AF65-F5344CB8AC3E}">
        <p14:creationId xmlns:p14="http://schemas.microsoft.com/office/powerpoint/2010/main" val="15784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C4C29-98F3-40C3-A7F2-B0CEF47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5EE70-C119-4F18-B06C-6145395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BA91-A478-46D2-80FD-A5D3AD3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Why this question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2A2F3-1F64-4B74-A534-E6BA5EC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C5331-1633-4188-90F1-CFD2223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731EE-752D-4A5E-A948-6AD4CEA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MOTIVATION /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3723C-2BC8-4813-8571-66C6D022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Text monitors and guard models can spot a planted instruction, but cannot tell which ones the agent will actually obey. Attackers can reword notes to slip past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086E8-C6BA-4A9A-9A9D-1DCE5B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EDFE0-04CD-4E06-86B5-09BE0AF3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Do the model's own activations, read before it acts, carry information about whether it will execute a dormant instruction that the text does not?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3D5E8-34B1-421F-B0E2-8062F97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AI SAFETY 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1B4C0-F779-432B-86D0-C15C236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A probe at the decision point could block the harmful tool call in time, almost for free, as a last line of defense behind text filters (a hybrid monitor).</a:t>
            </a:r>
          </a:p>
        </p:txBody>
      </p:sp>
    </p:spTree>
    <p:extLst>
      <p:ext uri="{BB962C8B-B14F-4D97-AF65-F5344CB8AC3E}">
        <p14:creationId xmlns:p14="http://schemas.microsoft.com/office/powerpoint/2010/main" val="1765728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BA897-E255-4AF7-9CCA-F4CBDFC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AEF43-5F74-4E99-BE0F-10D2725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86B8A-3C62-4DD9-A726-2BC38116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Approach &amp; experiment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C774F-C6FF-480A-B527-5011E676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14003-2903-4BF3-9C68-4FC4177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4977-53C3-436C-B90D-EC44569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C172-6897-4CCB-9F6B-57A3BCCD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gpt-oss-20b agent on Huy Pham's behavior_v1: 148 Sleeper Attack cases, 6 live and 6 inert note wordings each, plus clean memory (1,924 prompts)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F3C21-FFB1-4EA4-9277-B9246B0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D6CE8-974D-479B-993F-6B5B0C79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Residual stream at the end of the memory result, mean of layers 14 to 19 (pre-registered), into an L2 logistic regression. Labels from 8 agent rollouts per 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23147-D118-4FDA-9191-FA9587C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MEASUREMENT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F37EF-03B0-41A1-B0CE-507AEA75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AUROC with case bootstrap CIs on held-out wordings and domains. Success means beating text baselines on held-out cases within the same wording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0CE79-02F7-499D-ACDD-A895D5E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WORKING HYPOTHESIS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AA914-995B-4332-81D2-3EF5F02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If the agent will act on a planted note, its activations already encode that intent before it acts, so a probe predicts execution better than the note's text.</a:t>
            </a:r>
          </a:p>
        </p:txBody>
      </p:sp>
    </p:spTree>
    <p:extLst>
      <p:ext uri="{BB962C8B-B14F-4D97-AF65-F5344CB8AC3E}">
        <p14:creationId xmlns:p14="http://schemas.microsoft.com/office/powerpoint/2010/main" val="1884329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DFBAF-82EA-4835-AF48-B802FAD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B41E-3C8E-44D3-B6C0-0DF168A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E377-C67C-47E3-8FED-42D099C4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Progress against the original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55A0-D5B9-48D5-A360-6517AE6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8E9DB-8469-474C-9EDB-B5027B27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9137-AEA7-4E80-AB44-09E4BD323CA1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535305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Milestone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change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Pipeline and live vs inert probe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Probe AUROC 0.998 to 1.000; text also 1.000, so this validates the pipeline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Behavior labels and fired probe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888 live notes × 8 rollouts; probe 0.88 vs 0.78 to 0.81 text, within wording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Fair baselines (Jev, embeddings, LLM judge)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In progress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Jev run on 33 to 40 note samples; full sets and right question next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2F060-A659-44C7-BC9E-4FC9FCB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PLAN UPDATE  /  Started on Huy's memory poisoning testbed instead of building the coding agent first, to test the core probe idea cheaply (about $10 of GPU)</a:t>
            </a:r>
          </a:p>
        </p:txBody>
      </p:sp>
    </p:spTree>
    <p:extLst>
      <p:ext uri="{BB962C8B-B14F-4D97-AF65-F5344CB8AC3E}">
        <p14:creationId xmlns:p14="http://schemas.microsoft.com/office/powerpoint/2010/main" val="80446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64440-C1F3-4BCE-8C1E-D0C2142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5A99D-5FA6-4445-8F5D-CFD695F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9F1B1-B2DB-428A-A6C9-CA5BBC5C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Data, benchmark &amp;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AC81-C2DA-4193-BBA6-4B62AE45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67C3-AA41-4165-BDF7-A875319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3151-8759-4F83-9323-E494F3F8FBED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setup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Data / 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148 cases × 6 live + 6 inert wordings + clean memory = 1,924 prompts; 888 live notes × 8 rollouts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Splits / generalization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Train wordings 0 to 3 on 34 domains; E1 new wordings, E2 9 new domains, E3 both; 5 fold CV holding out whole cases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Baselines /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TF-IDF on note and full prompt, case and template baselines, difference of means, shuffled labels, Jev guard model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Metrics / uncertainty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AUROC and TPR at 5% FPR; 95% CIs from 2,000 case bootstrap resamples; AUROC within wording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179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2C83-48F0-484D-A63A-7A2CBDF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8B4E-FE8A-42A8-9909-CF7F8B5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PRELIMINARY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5DB-0BEA-4B21-8202-A5525D8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The model encodes “still pending” from layer 1 onward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0BAF-1C87-49E9-98C4-706F4EE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1A84C-BA0E-4AF4-9EE4-9823D2B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0AF3-163C-43BA-A66A-C1F7275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LIVE VS INERT, AUROC BY LAYER ON E3 (80 NOTES)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79FD7-CABE-491A-9594-6518015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350D4-B311-41E9-B68E-11ACD9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At layer 0 the end of memory token is identical for live and inert (0.50). By layer 1 it reads 0.94, and 1.00 from layer 13.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9592-2661-457D-8342-7BAA250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A812-7187-42BE-938F-460126D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8632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Attention carries the note’s status forward fast. But TF-IDF also scores 1.000 here, so this validates the pipeline only.</a:t>
            </a:r>
          </a:p>
        </p:txBody>
      </p:sp>
      <p:graphicFrame xmlns:a="http://schemas.openxmlformats.org/drawingml/2006/main">
        <p:nvGraphicFramePr>
          <p:cNvPr id="13" name="Layer chart"/>
          <p:cNvGraphicFramePr>
            <a:graphicFrameLocks noGrp="1"/>
          </p:cNvGraphicFramePr>
          <p:nvPr/>
        </p:nvGraphicFramePr>
        <p:xfrm>
          <a:off x="609600" y="3017520"/>
          <a:ext cx="70485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4191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2C83-48F0-484D-A63A-7A2CBDF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8B4E-FE8A-42A8-9909-CF7F8B5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PRELIMINARY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5DB-0BEA-4B21-8202-A5525D8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The probe predicts which attacks succeed better than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0BAF-1C87-49E9-98C4-706F4EE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1A84C-BA0E-4AF4-9EE4-9823D2B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0AF3-163C-43BA-A66A-C1F7275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AUROC WITHIN WORDING, HELD-OUT CASES (512 NOTES, 6,562 PAIRS)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79FD7-CABE-491A-9594-6518015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350D4-B311-41E9-B68E-11ACD9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Probe 0.876 [0.818, 0.920]. It beats note text by +0.10 (CI above zero).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9592-2661-457D-8342-7BAA250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A812-7187-42BE-938F-460126D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8632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Its +0.06 lead over full prompt text is not yet significant. It may read text better rather than read a decision.</a:t>
            </a:r>
          </a:p>
        </p:txBody>
      </p:sp>
      <p:graphicFrame xmlns:a="http://schemas.openxmlformats.org/drawingml/2006/main">
        <p:nvGraphicFramePr>
          <p:cNvPr id="13" name="Result chart"/>
          <p:cNvGraphicFramePr>
            <a:graphicFrameLocks noGrp="1"/>
          </p:cNvGraphicFramePr>
          <p:nvPr/>
        </p:nvGraphicFramePr>
        <p:xfrm>
          <a:off x="609600" y="3017520"/>
          <a:ext cx="70485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4191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2C83-48F0-484D-A63A-7A2CBDF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8B4E-FE8A-42A8-9909-CF7F8B5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PRELIMINARY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5DB-0BEA-4B21-8202-A5525D8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Wording alone moves obedience from 1% to 92%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0BAF-1C87-49E9-98C4-706F4EE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1A84C-BA0E-4AF4-9EE4-9823D2B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0AF3-163C-43BA-A66A-C1F7275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SHARE OBEYED, BY NOTE WORDING (148 NOTES EACH)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79FD7-CABE-491A-9594-6518015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350D4-B311-41E9-B68E-11ACD9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Notes saying “this turn” fire; “next time” notes rarely do. Jev flags every attack (0.47 on E1); the probe gets 0.98 on the same notes.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9592-2661-457D-8342-7BAA250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A812-7187-42BE-938F-460126D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8632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Guards spot poison, not success. The timing idea is post hoc and needs minimal pair tests.</a:t>
            </a:r>
          </a:p>
        </p:txBody>
      </p:sp>
      <p:graphicFrame xmlns:a="http://schemas.openxmlformats.org/drawingml/2006/main">
        <p:nvGraphicFramePr>
          <p:cNvPr id="13" name="Result chart"/>
          <p:cNvGraphicFramePr>
            <a:graphicFrameLocks noGrp="1"/>
          </p:cNvGraphicFramePr>
          <p:nvPr/>
        </p:nvGraphicFramePr>
        <p:xfrm>
          <a:off x="609600" y="3017520"/>
          <a:ext cx="70485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4191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08D4-29DD-4A7F-9CCA-6BCBD8C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A9C6-3EF4-454D-9E5B-E9B176B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B427B-58DD-4EEF-9F90-A551B68D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How robust is the finding?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0B64-3BCF-4600-B3AB-8E93F1F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5898-944C-4946-8BC7-0795B80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7AD7-369D-4910-9AEA-35C21D520F94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Baseline comparison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Note text +0.10 [+0.01, +0.19]; full prompt +0.06 [−0.02, +0.14]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Sentence embeddings, LLM judge, fair Jev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Ablation / control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Shuffled labels ≈ 0.5; case and wording controls; clean memory scores 0.003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Early vs middle layers; steer along the probe direction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Generalization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New wording 0.95, new domains 0.93; E3 has only 2 fired notes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30+ new wordings; other Sleeper Attack strategies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603E-CB8A-4744-95C0-D63DAC80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CONFIDENCE  /  Moderate. If a strong text model matches the probe, the gain is better reading, not a readable decision</a:t>
            </a:r>
          </a:p>
        </p:txBody>
      </p:sp>
    </p:spTree>
    <p:extLst>
      <p:ext uri="{BB962C8B-B14F-4D97-AF65-F5344CB8AC3E}">
        <p14:creationId xmlns:p14="http://schemas.microsoft.com/office/powerpoint/2010/main" val="1291178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4EF50-E410-48C4-8368-B06E0A76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1AC34-B621-40AE-B365-FE7C50E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C693-A431-4096-AB16-96C59CF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What is unresolved?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10CDE-BF99-4896-876A-E31A076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CBF8-173F-41C8-B0F5-E611DC5F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9FD87-6AE5-4430-8FB5-C302A71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1744F-877F-43E1-AF2A-4E5D4F0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Pre-registered primary test (E3) has only 2 fired notes; the headline within wording result is exploratory</a:t>
            </a:r>
          </a:p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Not yet tested are other models, other attack types, adaptive attackers, and whether the direction is causal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EDBE-C419-4FBE-BF33-9FEA9DE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BLOCKERS / RISKS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EBAE4-810B-43E4-9874-0C20A16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GPU credit is used up, and only 6 wordings limit statistical power</a:t>
            </a:r>
          </a:p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Mitigation is NCSA or a shared A100, and generating many new wordings cheaply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E41E1-2A6F-433D-83AE-33C1DB9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SCOPE DECISION  /  Keep probes as the core; stay on memory poisoning with gpt-oss before the full coding agent testbed</a:t>
            </a:r>
          </a:p>
        </p:txBody>
      </p:sp>
    </p:spTree>
    <p:extLst>
      <p:ext uri="{BB962C8B-B14F-4D97-AF65-F5344CB8AC3E}">
        <p14:creationId xmlns:p14="http://schemas.microsoft.com/office/powerpoint/2010/main" val="13468865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C2B1C-8AD3-4D44-853C-45FA880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C8140-57C9-43A4-B4A1-81C2C2E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A4864-8569-48CF-A002-E2A6CDE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Plan for the remaining fellowship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0E775-111E-462E-89C1-E13164A3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B236A-E489-4A17-8661-D0BECDF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ACA3-C7A4-4778-864C-A3EF24574088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40055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/ experiment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Done when…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Early Nov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Fair baselines (embeddings, LLM judge, Jev with the right question, full sets)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Probe vs best text gap with a CI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Mid Nov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Timing minimal pairs, 30+ wordings, multi layer and attention probes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Fire rate shift measured; E3 has 20+ fired notes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Late Nov to Dec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Steering test, write up, symposium poster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  <a:ea typeface="Arial"/>
                          <a:cs typeface="Arial"/>
                        </a:rPr>
                        <a:t>Causal result and final report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3F838-712A-4233-B82E-DC6E761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DELIVERABLES  /  Report and poster  ·  Code and data on GitHub  ·  Probe package for Huy's repo</a:t>
            </a:r>
          </a:p>
        </p:txBody>
      </p:sp>
    </p:spTree>
    <p:extLst>
      <p:ext uri="{BB962C8B-B14F-4D97-AF65-F5344CB8AC3E}">
        <p14:creationId xmlns:p14="http://schemas.microsoft.com/office/powerpoint/2010/main" val="492557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9616-D418-41B8-8C53-6E343317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F7BB9-BB70-4CE5-AEBA-FAF6E3B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F00D-E034-4542-A975-9EFA06C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Feedback that would help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5DF3-2CC4-44D6-BCA9-1104B81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327D5-1478-43A7-BFCC-2BF278D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54494-CF70-48F4-B76C-D8B5FFD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RESEARCH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909F-F46C-4FEF-B2D3-76F1615B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Stay on memory poisoning with gpt-oss, or move to the full coding agent testbed now?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87E6D-D935-4D5F-B0B8-7C27ED2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EXPERIMENT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7E59D-3F39-40D5-8701-F3E7B4E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baseline should we pre-register as the bar to beat: full prompt TF-IDF, embeddings, or an LLM judge?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1E41-0E9E-4572-81FB-5163901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SUPPORT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5015-CB03-4E49-9BEE-3EDDDBB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access (NCSA or a shared A100) for about 6 GPU hours by mid November</a:t>
            </a:r>
          </a:p>
        </p:txBody>
      </p:sp>
    </p:spTree>
    <p:extLst>
      <p:ext uri="{BB962C8B-B14F-4D97-AF65-F5344CB8AC3E}">
        <p14:creationId xmlns:p14="http://schemas.microsoft.com/office/powerpoint/2010/main" val="2560746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2A52A-03D6-40F3-AFDF-C2136C6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5C1F-10BF-42EB-AC53-73AC4E3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APPENDIX  /  OPTIONAL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88976-E363-4E6E-9028-91B8A9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Setup and 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353B-CD62-4982-BCB6-F9B4BEB7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rPr>
              <a:t>MIDPOINT CHECKPOINT  /  PROBING SLEEPER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0CF22-280E-4E1B-A994-4AEA0B40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11299-BB5E-423C-9CF8-8AD481F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4661-6DD1-4778-970E-822A950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Activations from gpt-oss-20b in bf16; behavior from vLLM 0.30.0 with the date pinned so prompts match (962 = 962 tokens). k = 8, T = 1.0, fired = at least 4 of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D6F58-44F3-4004-87D0-FE71ADD0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EVIDENCE / REPRODUCIBILITY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B2940-C46E-40FF-95E5-5AA52BA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3294B"/>
                </a:solidFill>
                <a:latin typeface="Arial"/>
              </a:rPr>
              <a:t>Code, reports, features and labels on GitHub (RaghavAgarwal08/sleeper_detection, branch raghav/probe-live-inert). Controls rerun on a laptop in 2 minutes.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sz="1200" b="1">
                <a:solidFill>
                  <a:srgbClr val="FF5F05"/>
                </a:solidFill>
                <a:latin typeface="Arial"/>
              </a:rPr>
              <a:t>Contact: Raghav Agarwal (raghava7@illinois.edu)  ·  Huy Pham (huynp2@illinois.edu)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6596D-8DD7-4DC0-8CBE-AF98F59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REFERENCE /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30E6A-77A0-44C1-83F4-2DC3798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Li et al. 2026, Sleeper Attack benchmark  ·  Zou et al. 2023, Representation Engineering  ·  Google DeepMind 2026, Building Production-Ready Probes for Gemini</a:t>
            </a:r>
          </a:p>
          <a:p xmlns:a="http://schemas.openxmlformats.org/drawingml/2006/main">
            <a: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94B"/>
                </a:solidFill>
                <a:latin typeface="Arial"/>
                <a:ea typeface="Arial"/>
                <a:cs typeface="Arial"/>
              </a:rPr>
              <a:t>Prior results by Huy Pham (sleeper_detection repo, paired twins): memory tokens carry an 8× stronger poisoned vs clean signal than the prompt end; the bf16 harness matches vLLM rollouts 93 to 100%</a:t>
            </a:r>
          </a:p>
        </p:txBody>
      </p:sp>
    </p:spTree>
    <p:extLst>
      <p:ext uri="{BB962C8B-B14F-4D97-AF65-F5344CB8AC3E}">
        <p14:creationId xmlns:p14="http://schemas.microsoft.com/office/powerpoint/2010/main" val="12321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2026-10-26T23:51:43.1620000Z</dcterms:created>
  <dcterms:modified xsi:type="dcterms:W3CDTF">2026-10-26T23:51:43.1620000Z</dcterms:modified>
</coreProperties>
</file>