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c4c29236edf4ad2" Type="http://schemas.openxmlformats.org/package/2006/relationships/metadata/core-properties" Target="docProps/core.xml"/><Relationship Id="R70b500f6916d4d50" Type="http://schemas.openxmlformats.org/officeDocument/2006/relationships/extended-properties" Target="docProps/app.xml"/><Relationship Id="Rd739b9bf36bd4a0e"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b278a5c36824418e"/>
  </p:sldMasterIdLst>
  <p:notesMasterIdLst>
    <p:notesMasterId xmlns:r="http://schemas.openxmlformats.org/officeDocument/2006/relationships" r:id="R565cf14bc9904ee7"/>
  </p:notesMasterIdLst>
  <p:sldIdLst>
    <p:sldId xmlns:r="http://schemas.openxmlformats.org/officeDocument/2006/relationships" id="256" r:id="R7964a856f536470b"/>
    <p:sldId xmlns:r="http://schemas.openxmlformats.org/officeDocument/2006/relationships" id="257" r:id="Rad4fc34f73ca4d07"/>
    <p:sldId xmlns:r="http://schemas.openxmlformats.org/officeDocument/2006/relationships" id="258" r:id="R05075c61122c44d3"/>
    <p:sldId xmlns:r="http://schemas.openxmlformats.org/officeDocument/2006/relationships" id="259" r:id="R5cd745ae093c4c60"/>
    <p:sldId xmlns:r="http://schemas.openxmlformats.org/officeDocument/2006/relationships" id="260" r:id="R92231d39ba794684"/>
    <p:sldId xmlns:r="http://schemas.openxmlformats.org/officeDocument/2006/relationships" id="261" r:id="Rbb4a0aef529044a5"/>
    <p:sldId xmlns:r="http://schemas.openxmlformats.org/officeDocument/2006/relationships" id="262" r:id="R1d1947e974e14969"/>
    <p:sldId xmlns:r="http://schemas.openxmlformats.org/officeDocument/2006/relationships" id="263" r:id="R1e2cd040a7204ded"/>
    <p:sldId xmlns:r="http://schemas.openxmlformats.org/officeDocument/2006/relationships" id="264" r:id="R9573238189ac4f15"/>
    <p:sldId xmlns:r="http://schemas.openxmlformats.org/officeDocument/2006/relationships" id="265" r:id="Ra5b5c7cf59404f4e"/>
    <p:sldId xmlns:r="http://schemas.openxmlformats.org/officeDocument/2006/relationships" id="266" r:id="Rfde17188f1fc4cf8"/>
    <p:sldId xmlns:r="http://schemas.openxmlformats.org/officeDocument/2006/relationships" id="267" r:id="R1969fa21232449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075c61122c44d3" Type="http://schemas.openxmlformats.org/officeDocument/2006/relationships/slide" Target="slides/slide3.xml"/><Relationship Id="R1969fa212324496e" Type="http://schemas.openxmlformats.org/officeDocument/2006/relationships/slide" Target="slides/slide12.xml"/><Relationship Id="R1d1947e974e14969" Type="http://schemas.openxmlformats.org/officeDocument/2006/relationships/slide" Target="slides/slide7.xml"/><Relationship Id="R1e2cd040a7204ded" Type="http://schemas.openxmlformats.org/officeDocument/2006/relationships/slide" Target="slides/slide8.xml"/><Relationship Id="R565cf14bc9904ee7" Type="http://schemas.openxmlformats.org/officeDocument/2006/relationships/notesMaster" Target="notesMasters/notesMaster1.xml"/><Relationship Id="R5cd745ae093c4c60" Type="http://schemas.openxmlformats.org/officeDocument/2006/relationships/slide" Target="slides/slide4.xml"/><Relationship Id="R7964a856f536470b" Type="http://schemas.openxmlformats.org/officeDocument/2006/relationships/slide" Target="slides/slide1.xml"/><Relationship Id="R92231d39ba794684" Type="http://schemas.openxmlformats.org/officeDocument/2006/relationships/slide" Target="slides/slide5.xml"/><Relationship Id="R93915de22e554583" Type="http://schemas.openxmlformats.org/officeDocument/2006/relationships/presProps" Target="presProps.xml"/><Relationship Id="R9573238189ac4f15" Type="http://schemas.openxmlformats.org/officeDocument/2006/relationships/slide" Target="slides/slide9.xml"/><Relationship Id="Ra5b5c7cf59404f4e" Type="http://schemas.openxmlformats.org/officeDocument/2006/relationships/slide" Target="slides/slide10.xml"/><Relationship Id="Rad4fc34f73ca4d07" Type="http://schemas.openxmlformats.org/officeDocument/2006/relationships/slide" Target="slides/slide2.xml"/><Relationship Id="Rb278a5c36824418e" Type="http://schemas.openxmlformats.org/officeDocument/2006/relationships/slideMaster" Target="slideMasters/slideMaster1.xml"/><Relationship Id="Rbb4a0aef529044a5" Type="http://schemas.openxmlformats.org/officeDocument/2006/relationships/slide" Target="slides/slide6.xml"/><Relationship Id="Rd743b93aff8842b7" Type="http://schemas.openxmlformats.org/officeDocument/2006/relationships/tableStyles" Target="tableStyles.xml"/><Relationship Id="Rdcaac1669b2c4d69" Type="http://schemas.openxmlformats.org/officeDocument/2006/relationships/theme" Target="theme/theme1.xml"/><Relationship Id="Rfde17188f1fc4cf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7676aaccf96a4a4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1ee180138434f8f" Type="http://schemas.openxmlformats.org/officeDocument/2006/relationships/slide" Target="../slides/slide1.xml"/><Relationship Id="Rab904cefa969419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7d9615d6c2e9437a" Type="http://schemas.openxmlformats.org/officeDocument/2006/relationships/notesMaster" Target="../notesMasters/notesMaster1.xml"/><Relationship Id="R98bb2d7053e94ec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433ede618314bc0" Type="http://schemas.openxmlformats.org/officeDocument/2006/relationships/notesMaster" Target="../notesMasters/notesMaster1.xml"/><Relationship Id="R9ea8b81c5cba4fa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68a55bc3cb9c4c30" Type="http://schemas.openxmlformats.org/officeDocument/2006/relationships/slide" Target="../slides/slide4.xml"/><Relationship Id="Ra6d2bd39aa6d438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71acc0704e1a48f5" Type="http://schemas.openxmlformats.org/officeDocument/2006/relationships/slide" Target="../slides/slide5.xml"/><Relationship Id="Rfea435589afc4980"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9288014fab064bb6" Type="http://schemas.openxmlformats.org/officeDocument/2006/relationships/slide" Target="../slides/slide6.xml"/><Relationship Id="Rc6aa5f2eb23b4c3a"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101a77593038430b" Type="http://schemas.openxmlformats.org/officeDocument/2006/relationships/notesMaster" Target="../notesMasters/notesMaster1.xml"/><Relationship Id="Rdc58ced9a5c84a89"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0c2038e260a64d16" Type="http://schemas.openxmlformats.org/officeDocument/2006/relationships/slide" Target="../slides/slide8.xml"/><Relationship Id="R6d6f2a73317d4d1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b8eaa47e45846ab" Type="http://schemas.openxmlformats.org/officeDocument/2006/relationships/slide" Target="../slides/slide9.xml"/><Relationship Id="Rfa332feb579a41cb"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d09d8626f5e14ad6" Type="http://schemas.openxmlformats.org/officeDocument/2006/relationships/slide" Target="../slides/slide10.xml"/><Relationship Id="Rfb2765d1cb834acc"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614f1420191c402e" Type="http://schemas.openxmlformats.org/officeDocument/2006/relationships/slide" Target="../slides/slide11.xml"/><Relationship Id="Rb08b9e74ed29440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7d5bbad4989e4754" Type="http://schemas.openxmlformats.org/officeDocument/2006/relationships/slide" Target="../slides/slide12.xml"/><Relationship Id="Re486fe53c3b4486c"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a:p xmlns:a="http://schemas.openxmlformats.org/drawingml/2006/main">
            <a:br/>
            <a:r>
              <a:t>Suggested presentation length: 8–10 minutes plus discussion. Duplicate results or appendix slides as needed; remove unused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a:p xmlns:a="http://schemas.openxmlformats.org/drawingml/2006/main">
            <a:br/>
            <a:r>
              <a:t>Replace the figure placeholder with an actual plot or an editable chart. Do not leave illustrative values in the final talk. Distinguish measured evidence from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replace all bracketed placeholders. Keep one main message per slide. Design reference and owl asset: https://aialignmentillinois.org/ and https://aialignmentillinois.org/brand/owl.png . Website-inspired navy/orange palette and typography hierarchy; Arial and Courier New used for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231ae2eaae9427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5f1ae0e139eb476b"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3c8cf1d22917405c"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df185fcb6c9449c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66e090264e3c442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d2c8279ead89464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8AE317-CB80-4B20-9A7A-9D2E09FAFB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FE2480-57FA-4028-8D81-1013CB7C074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B1CA14-C2E8-4954-803F-4210D48AA59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03A40A-37A4-45C8-A4A2-93F78FFA0D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5E19AE-62C2-4B79-BD5A-6F76AD6EE8A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E0B309-BF48-412D-902A-CDD7803645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B54E57-BBA2-42DC-9853-B5F9E9F58C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460022-728D-443E-BC1D-5B2F6815516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A79BED-9E0F-4116-9430-437D06BD85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D3667B-EAB0-4FAE-A254-B3310F5DC4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cdc325f9b314f55" Type="http://schemas.openxmlformats.org/officeDocument/2006/relationships/slideLayout" Target="../slideLayouts/slideLayout1.xml"/><Relationship Id="R689f8f269a224103" Type="http://schemas.openxmlformats.org/officeDocument/2006/relationships/slideLayout" Target="../slideLayouts/slideLayout6.xml"/><Relationship Id="R93495d77bc8d4b95" Type="http://schemas.openxmlformats.org/officeDocument/2006/relationships/slideLayout" Target="../slideLayouts/slideLayout2.xml"/><Relationship Id="R9fb8bd33d6cb40d6" Type="http://schemas.openxmlformats.org/officeDocument/2006/relationships/slideLayout" Target="../slideLayouts/slideLayout5.xml"/><Relationship Id="Ra4721e2a72174a9e" Type="http://schemas.openxmlformats.org/officeDocument/2006/relationships/slideLayout" Target="../slideLayouts/slideLayout4.xml"/><Relationship Id="Ra5d2ade9e5954261" Type="http://schemas.openxmlformats.org/officeDocument/2006/relationships/theme" Target="theme/theme2.xml"/><Relationship Id="Rd735f6407fc14bb7"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dc325f9b314f55"/>
    <p:sldLayoutId xmlns:r="http://schemas.openxmlformats.org/officeDocument/2006/relationships" id="2147483650" r:id="R93495d77bc8d4b95"/>
    <p:sldLayoutId xmlns:r="http://schemas.openxmlformats.org/officeDocument/2006/relationships" id="2147483651" r:id="Rd735f6407fc14bb7"/>
    <p:sldLayoutId xmlns:r="http://schemas.openxmlformats.org/officeDocument/2006/relationships" id="2147483652" r:id="Ra4721e2a72174a9e"/>
    <p:sldLayoutId xmlns:r="http://schemas.openxmlformats.org/officeDocument/2006/relationships" id="2147483653" r:id="R9fb8bd33d6cb40d6"/>
    <p:sldLayoutId xmlns:r="http://schemas.openxmlformats.org/officeDocument/2006/relationships" id="2147483654" r:id="R689f8f269a2241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db40f00e472486b" Type="http://schemas.openxmlformats.org/officeDocument/2006/relationships/notesSlide" Target="../notesSlides/notesSlide1.xml"/><Relationship Id="R91bb64ba32604d1b" Type="http://schemas.openxmlformats.org/officeDocument/2006/relationships/slideLayout" Target="../slideLayouts/slideLayout6.xml"/><Relationship Id="Rbbecd53d7b484831" Type="http://schemas.openxmlformats.org/officeDocument/2006/relationships/image" Target="../media/image.png"/></Relationships>
</file>

<file path=ppt/slides/_rels/slide2.xml.rels><?xml version='1.0' encoding='UTF-8' standalone='yes'?>
<Relationships xmlns="http://schemas.openxmlformats.org/package/2006/relationships"><Relationship Id="R2a11f5e505594e30" Type="http://schemas.openxmlformats.org/officeDocument/2006/relationships/slideLayout" Target="../slideLayouts/slideLayout6.xml"/><Relationship Id="Rdd1ffe0effcc4c8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57d4db6d6ae541b0" Type="http://schemas.openxmlformats.org/officeDocument/2006/relationships/slideLayout" Target="../slideLayouts/slideLayout6.xml"/><Relationship Id="R6130226a442e422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02aab0496144440" Type="http://schemas.openxmlformats.org/officeDocument/2006/relationships/slideLayout" Target="../slideLayouts/slideLayout6.xml"/><Relationship Id="R81d4b05a4ce64b7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d17737e1abee476d" Type="http://schemas.openxmlformats.org/officeDocument/2006/relationships/slideLayout" Target="../slideLayouts/slideLayout6.xml"/><Relationship Id="Rdde1792a5d7540b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6f483bfe94f149a6" Type="http://schemas.openxmlformats.org/officeDocument/2006/relationships/notesSlide" Target="../notesSlides/notesSlide6.xml"/><Relationship Id="R78ee338b236e4b5a"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3a566bab3f1d4ce3" Type="http://schemas.openxmlformats.org/officeDocument/2006/relationships/notesSlide" Target="../notesSlides/notesSlide7.xml"/><Relationship Id="R498cd30c3fa04beb" Type="http://schemas.openxmlformats.org/officeDocument/2006/relationships/slideLayout" Target="../slideLayouts/slideLayout6.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1875c59a08cf4e8e" Type="http://schemas.openxmlformats.org/officeDocument/2006/relationships/slideLayout" Target="../slideLayouts/slideLayout6.xml"/><Relationship Id="Re5b0537edd75476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e2494c819844686" Type="http://schemas.openxmlformats.org/officeDocument/2006/relationships/slideLayout" Target="../slideLayouts/slideLayout6.xml"/><Relationship Id="R72d201e888084f5d"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646026abd8b94ba5" Type="http://schemas.openxmlformats.org/officeDocument/2006/relationships/notesSlide" Target="../notesSlides/notesSlide10.xml"/><Relationship Id="Rded38aad92044dd0"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0514119ecf084f5d" Type="http://schemas.openxmlformats.org/officeDocument/2006/relationships/notesSlide" Target="../notesSlides/notesSlide11.xml"/><Relationship Id="Rc66c27230e5e42b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7b017acdd558479e" Type="http://schemas.openxmlformats.org/officeDocument/2006/relationships/notesSlide" Target="../notesSlides/notesSlide12.xml"/><Relationship Id="Rab0aa2d5742b4938"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13294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6EA8DC-355C-4D70-8AAC-2D207C8BF50F}"/>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FFFF"/>
                </a:solidFill>
                <a:latin typeface="Courier New"/>
                <a:ea typeface="Courier New"/>
                <a:cs typeface="Courier New"/>
              </a:defRPr>
            </a:defPPr>
            <a:lvl1pPr>
              <a:defRPr sz="1200" b="1">
                <a:solidFill>
                  <a:srgbClr val="FFFFFF"/>
                </a:solidFill>
                <a:latin typeface="Courier New"/>
                <a:ea typeface="Courier New"/>
                <a:cs typeface="Courier New"/>
              </a:defRPr>
            </a:lvl1pPr>
            <a:lvl2pPr>
              <a:defRPr sz="1200" b="1">
                <a:solidFill>
                  <a:srgbClr val="FFFFFF"/>
                </a:solidFill>
                <a:latin typeface="Courier New"/>
                <a:ea typeface="Courier New"/>
                <a:cs typeface="Courier New"/>
              </a:defRPr>
            </a:lvl2pPr>
            <a:lvl3pPr>
              <a:defRPr sz="1200" b="1">
                <a:solidFill>
                  <a:srgbClr val="FFFFFF"/>
                </a:solidFill>
                <a:latin typeface="Courier New"/>
                <a:ea typeface="Courier New"/>
                <a:cs typeface="Courier New"/>
              </a:defRPr>
            </a:lvl3pPr>
            <a:lvl4pPr>
              <a:defRPr sz="1200" b="1">
                <a:solidFill>
                  <a:srgbClr val="FFFFFF"/>
                </a:solidFill>
                <a:latin typeface="Courier New"/>
                <a:ea typeface="Courier New"/>
                <a:cs typeface="Courier New"/>
              </a:defRPr>
            </a:lvl4pPr>
            <a:lvl5pPr>
              <a:defRPr sz="1200" b="1">
                <a:solidFill>
                  <a:srgbClr val="FFFFFF"/>
                </a:solidFill>
                <a:latin typeface="Courier New"/>
                <a:ea typeface="Courier New"/>
                <a:cs typeface="Courier New"/>
              </a:defRPr>
            </a:lvl5pPr>
            <a:lvl6pPr>
              <a:defRPr sz="1200" b="1">
                <a:solidFill>
                  <a:srgbClr val="FFFFFF"/>
                </a:solidFill>
                <a:latin typeface="Courier New"/>
                <a:ea typeface="Courier New"/>
                <a:cs typeface="Courier New"/>
              </a:defRPr>
            </a:lvl6pPr>
            <a:lvl7pPr>
              <a:defRPr sz="1200" b="1">
                <a:solidFill>
                  <a:srgbClr val="FFFFFF"/>
                </a:solidFill>
                <a:latin typeface="Courier New"/>
                <a:ea typeface="Courier New"/>
                <a:cs typeface="Courier New"/>
              </a:defRPr>
            </a:lvl7pPr>
            <a:lvl8pPr>
              <a:defRPr sz="1200" b="1">
                <a:solidFill>
                  <a:srgbClr val="FFFFFF"/>
                </a:solidFill>
                <a:latin typeface="Courier New"/>
                <a:ea typeface="Courier New"/>
                <a:cs typeface="Courier New"/>
              </a:defRPr>
            </a:lvl8pPr>
            <a:lvl9pPr>
              <a:defRPr sz="1200" b="1">
                <a:solidFill>
                  <a:srgbClr val="FFFFFF"/>
                </a:solidFill>
                <a:latin typeface="Courier New"/>
                <a:ea typeface="Courier New"/>
                <a:cs typeface="Courier New"/>
              </a:defRPr>
            </a:lvl9pPr>
          </a:lstStyle>
          <a:p xmlns:a="http://schemas.openxmlformats.org/drawingml/2006/main">
            <a:pPr>
              <a:defRPr sz="1200" b="1">
                <a:solidFill>
                  <a:srgbClr val="FFFFFF"/>
                </a:solidFill>
                <a:latin typeface="Courier New"/>
                <a:ea typeface="Courier New"/>
                <a:cs typeface="Courier New"/>
              </a:defRPr>
            </a:pPr>
            <a:r>
              <a:rPr sz="1200" b="1">
                <a:solidFill>
                  <a:srgbClr val="FFFFFF"/>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F1B2DFCA-CED0-4882-9CFA-364976C552BA}"/>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lnSpc>
                <a:spcPct val="115000"/>
              </a:lnSpc>
              <a:spcAft>
                <a:spcPts val="300"/>
              </a:spcAft>
            </a:pPr>
            <a:r>
              <a:rPr sz="1200" b="1">
                <a:solidFill>
                  <a:srgbClr val="FF5F05"/>
                </a:solidFill>
                <a:latin typeface="Courier New"/>
              </a:rPr>
              <a:t>AIA @ ILLINOIS  /  FALL 2026</a:t>
            </a:r>
          </a:p>
        </p:txBody>
      </p:sp>
      <p:sp>
        <p:nvSpPr>
          <p:cNvPr id="3" name="">
            <a:extLst xmlns:a="http://schemas.openxmlformats.org/drawingml/2006/main">
              <a:ext uri="{FF2B5EF4-FFF2-40B4-BE49-F238E27FC236}">
                <a16:creationId xmlns:a16="http://schemas.microsoft.com/office/drawing/2014/main" id="{B5D99395-6DDB-4E2E-835D-4D6447480387}"/>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FFFFFF"/>
                </a:solidFill>
                <a:latin typeface="Arial"/>
                <a:ea typeface="Arial"/>
                <a:cs typeface="Arial"/>
              </a:defRPr>
            </a:defPPr>
            <a:lvl1pPr>
              <a:defRPr sz="3750" b="1">
                <a:solidFill>
                  <a:srgbClr val="FFFFFF"/>
                </a:solidFill>
                <a:latin typeface="Arial"/>
                <a:ea typeface="Arial"/>
                <a:cs typeface="Arial"/>
              </a:defRPr>
            </a:lvl1pPr>
            <a:lvl2pPr>
              <a:defRPr sz="3750" b="1">
                <a:solidFill>
                  <a:srgbClr val="FFFFFF"/>
                </a:solidFill>
                <a:latin typeface="Arial"/>
                <a:ea typeface="Arial"/>
                <a:cs typeface="Arial"/>
              </a:defRPr>
            </a:lvl2pPr>
            <a:lvl3pPr>
              <a:defRPr sz="3750" b="1">
                <a:solidFill>
                  <a:srgbClr val="FFFFFF"/>
                </a:solidFill>
                <a:latin typeface="Arial"/>
                <a:ea typeface="Arial"/>
                <a:cs typeface="Arial"/>
              </a:defRPr>
            </a:lvl3pPr>
            <a:lvl4pPr>
              <a:defRPr sz="3750" b="1">
                <a:solidFill>
                  <a:srgbClr val="FFFFFF"/>
                </a:solidFill>
                <a:latin typeface="Arial"/>
                <a:ea typeface="Arial"/>
                <a:cs typeface="Arial"/>
              </a:defRPr>
            </a:lvl4pPr>
            <a:lvl5pPr>
              <a:defRPr sz="3750" b="1">
                <a:solidFill>
                  <a:srgbClr val="FFFFFF"/>
                </a:solidFill>
                <a:latin typeface="Arial"/>
                <a:ea typeface="Arial"/>
                <a:cs typeface="Arial"/>
              </a:defRPr>
            </a:lvl5pPr>
            <a:lvl6pPr>
              <a:defRPr sz="3750" b="1">
                <a:solidFill>
                  <a:srgbClr val="FFFFFF"/>
                </a:solidFill>
                <a:latin typeface="Arial"/>
                <a:ea typeface="Arial"/>
                <a:cs typeface="Arial"/>
              </a:defRPr>
            </a:lvl6pPr>
            <a:lvl7pPr>
              <a:defRPr sz="3750" b="1">
                <a:solidFill>
                  <a:srgbClr val="FFFFFF"/>
                </a:solidFill>
                <a:latin typeface="Arial"/>
                <a:ea typeface="Arial"/>
                <a:cs typeface="Arial"/>
              </a:defRPr>
            </a:lvl7pPr>
            <a:lvl8pPr>
              <a:defRPr sz="3750" b="1">
                <a:solidFill>
                  <a:srgbClr val="FFFFFF"/>
                </a:solidFill>
                <a:latin typeface="Arial"/>
                <a:ea typeface="Arial"/>
                <a:cs typeface="Arial"/>
              </a:defRPr>
            </a:lvl8pPr>
            <a:lvl9pPr>
              <a:defRPr sz="3750" b="1">
                <a:solidFill>
                  <a:srgbClr val="FFFFFF"/>
                </a:solidFill>
                <a:latin typeface="Arial"/>
                <a:ea typeface="Arial"/>
                <a:cs typeface="Arial"/>
              </a:defRPr>
            </a:lvl9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Midpoint</a:t>
            </a:r>
          </a:p>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checkpoint</a:t>
            </a:r>
          </a:p>
        </p:txBody>
      </p:sp>
      <p:sp>
        <p:nvSpPr>
          <p:cNvPr id="4" name="">
            <a:extLst xmlns:a="http://schemas.openxmlformats.org/drawingml/2006/main">
              <a:ext uri="{FF2B5EF4-FFF2-40B4-BE49-F238E27FC236}">
                <a16:creationId xmlns:a16="http://schemas.microsoft.com/office/drawing/2014/main" id="{0A6BF819-A5B8-43C5-AC04-D21822C31D8E}"/>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6C7C6"/>
                </a:solidFill>
                <a:latin typeface="Courier New"/>
                <a:ea typeface="Courier New"/>
                <a:cs typeface="Courier New"/>
              </a:defRPr>
            </a:defPPr>
            <a:lvl1pPr>
              <a:defRPr sz="975" b="0">
                <a:solidFill>
                  <a:srgbClr val="C6C7C6"/>
                </a:solidFill>
                <a:latin typeface="Courier New"/>
                <a:ea typeface="Courier New"/>
                <a:cs typeface="Courier New"/>
              </a:defRPr>
            </a:lvl1pPr>
            <a:lvl2pPr>
              <a:defRPr sz="975" b="0">
                <a:solidFill>
                  <a:srgbClr val="C6C7C6"/>
                </a:solidFill>
                <a:latin typeface="Courier New"/>
                <a:ea typeface="Courier New"/>
                <a:cs typeface="Courier New"/>
              </a:defRPr>
            </a:lvl2pPr>
            <a:lvl3pPr>
              <a:defRPr sz="975" b="0">
                <a:solidFill>
                  <a:srgbClr val="C6C7C6"/>
                </a:solidFill>
                <a:latin typeface="Courier New"/>
                <a:ea typeface="Courier New"/>
                <a:cs typeface="Courier New"/>
              </a:defRPr>
            </a:lvl3pPr>
            <a:lvl4pPr>
              <a:defRPr sz="975" b="0">
                <a:solidFill>
                  <a:srgbClr val="C6C7C6"/>
                </a:solidFill>
                <a:latin typeface="Courier New"/>
                <a:ea typeface="Courier New"/>
                <a:cs typeface="Courier New"/>
              </a:defRPr>
            </a:lvl4pPr>
            <a:lvl5pPr>
              <a:defRPr sz="975" b="0">
                <a:solidFill>
                  <a:srgbClr val="C6C7C6"/>
                </a:solidFill>
                <a:latin typeface="Courier New"/>
                <a:ea typeface="Courier New"/>
                <a:cs typeface="Courier New"/>
              </a:defRPr>
            </a:lvl5pPr>
            <a:lvl6pPr>
              <a:defRPr sz="975" b="0">
                <a:solidFill>
                  <a:srgbClr val="C6C7C6"/>
                </a:solidFill>
                <a:latin typeface="Courier New"/>
                <a:ea typeface="Courier New"/>
                <a:cs typeface="Courier New"/>
              </a:defRPr>
            </a:lvl6pPr>
            <a:lvl7pPr>
              <a:defRPr sz="975" b="0">
                <a:solidFill>
                  <a:srgbClr val="C6C7C6"/>
                </a:solidFill>
                <a:latin typeface="Courier New"/>
                <a:ea typeface="Courier New"/>
                <a:cs typeface="Courier New"/>
              </a:defRPr>
            </a:lvl7pPr>
            <a:lvl8pPr>
              <a:defRPr sz="975" b="0">
                <a:solidFill>
                  <a:srgbClr val="C6C7C6"/>
                </a:solidFill>
                <a:latin typeface="Courier New"/>
                <a:ea typeface="Courier New"/>
                <a:cs typeface="Courier New"/>
              </a:defRPr>
            </a:lvl8pPr>
            <a:lvl9pPr>
              <a:defRPr sz="975" b="0">
                <a:solidFill>
                  <a:srgbClr val="C6C7C6"/>
                </a:solidFill>
                <a:latin typeface="Courier New"/>
                <a:ea typeface="Courier New"/>
                <a:cs typeface="Courier New"/>
              </a:defRPr>
            </a:lvl9pPr>
          </a:lstStyle>
          <a:p xmlns:a="http://schemas.openxmlformats.org/drawingml/2006/main">
            <a:pPr>
              <a:defRPr sz="975" b="0">
                <a:solidFill>
                  <a:srgbClr val="C6C7C6"/>
                </a:solidFill>
                <a:latin typeface="Courier New"/>
                <a:ea typeface="Courier New"/>
                <a:cs typeface="Courier New"/>
              </a:defRPr>
            </a:pPr>
            <a:r>
              <a:rPr sz="975">
                <a:solidFill>
                  <a:srgbClr val="C6C7C6"/>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48EA8281-D470-42CF-AF63-5819A5309CEE}"/>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01</a:t>
            </a:r>
          </a:p>
        </p:txBody>
      </p:sp>
      <p:pic>
        <p:nvPicPr>
          <p:cNvPr id="6" name="">
            <a:extLst xmlns:a="http://schemas.openxmlformats.org/drawingml/2006/main">
              <a:ext uri="{FF2B5EF4-FFF2-40B4-BE49-F238E27FC236}">
                <a16:creationId xmlns:a16="http://schemas.microsoft.com/office/drawing/2014/main" id="{3CE9FB00-5DE5-4C63-A49E-FD724AAD8BEB}"/>
              </a:ext>
            </a:extLst>
          </p:cNvPr>
          <p:cNvPicPr>
            <a:picLocks xmlns:a="http://schemas.openxmlformats.org/drawingml/2006/main" noChangeAspect="1"/>
          </p:cNvPicPr>
          <p:nvPr/>
        </p:nvPicPr>
        <p:blipFill>
          <a:blip xmlns:r="http://schemas.openxmlformats.org/officeDocument/2006/relationships" xmlns:a="http://schemas.openxmlformats.org/drawingml/2006/main" r:embed="Rbbecd53d7b484831"/>
          <a:stretch xmlns:a="http://schemas.openxmlformats.org/drawingml/2006/main"/>
        </p:blipFill>
        <p:spPr>
          <a:xfrm xmlns:a="http://schemas.openxmlformats.org/drawingml/2006/main">
            <a:off x="9239250" y="1714500"/>
            <a:ext cx="2095500" cy="2095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CE49790-F9E3-465A-A0A4-0358507DADEE}"/>
              </a:ext>
            </a:extLst>
          </p:cNvPr>
          <p:cNvSpPr>
            <a:spLocks xmlns:a="http://schemas.openxmlformats.org/drawingml/2006/main" noGrp="1"/>
          </p:cNvSpPr>
          <p:nvPr/>
        </p:nvSpPr>
        <p:spPr>
          <a:xfrm xmlns:a="http://schemas.openxmlformats.org/drawingml/2006/main">
            <a:off x="609600" y="3524250"/>
            <a:ext cx="819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3150" b="1">
                <a:solidFill>
                  <a:srgbClr val="FF5F05"/>
                </a:solidFill>
                <a:latin typeface="Arial"/>
                <a:ea typeface="Arial"/>
                <a:cs typeface="Arial"/>
              </a:defRPr>
            </a:defPPr>
            <a:lvl1pPr>
              <a:defRPr sz="3150" b="1">
                <a:solidFill>
                  <a:srgbClr val="FF5F05"/>
                </a:solidFill>
                <a:latin typeface="Arial"/>
                <a:ea typeface="Arial"/>
                <a:cs typeface="Arial"/>
              </a:defRPr>
            </a:lvl1pPr>
            <a:lvl2pPr>
              <a:defRPr sz="3150" b="1">
                <a:solidFill>
                  <a:srgbClr val="FF5F05"/>
                </a:solidFill>
                <a:latin typeface="Arial"/>
                <a:ea typeface="Arial"/>
                <a:cs typeface="Arial"/>
              </a:defRPr>
            </a:lvl2pPr>
            <a:lvl3pPr>
              <a:defRPr sz="3150" b="1">
                <a:solidFill>
                  <a:srgbClr val="FF5F05"/>
                </a:solidFill>
                <a:latin typeface="Arial"/>
                <a:ea typeface="Arial"/>
                <a:cs typeface="Arial"/>
              </a:defRPr>
            </a:lvl3pPr>
            <a:lvl4pPr>
              <a:defRPr sz="3150" b="1">
                <a:solidFill>
                  <a:srgbClr val="FF5F05"/>
                </a:solidFill>
                <a:latin typeface="Arial"/>
                <a:ea typeface="Arial"/>
                <a:cs typeface="Arial"/>
              </a:defRPr>
            </a:lvl4pPr>
            <a:lvl5pPr>
              <a:defRPr sz="3150" b="1">
                <a:solidFill>
                  <a:srgbClr val="FF5F05"/>
                </a:solidFill>
                <a:latin typeface="Arial"/>
                <a:ea typeface="Arial"/>
                <a:cs typeface="Arial"/>
              </a:defRPr>
            </a:lvl5pPr>
            <a:lvl6pPr>
              <a:defRPr sz="3150" b="1">
                <a:solidFill>
                  <a:srgbClr val="FF5F05"/>
                </a:solidFill>
                <a:latin typeface="Arial"/>
                <a:ea typeface="Arial"/>
                <a:cs typeface="Arial"/>
              </a:defRPr>
            </a:lvl6pPr>
            <a:lvl7pPr>
              <a:defRPr sz="3150" b="1">
                <a:solidFill>
                  <a:srgbClr val="FF5F05"/>
                </a:solidFill>
                <a:latin typeface="Arial"/>
                <a:ea typeface="Arial"/>
                <a:cs typeface="Arial"/>
              </a:defRPr>
            </a:lvl7pPr>
            <a:lvl8pPr>
              <a:defRPr sz="3150" b="1">
                <a:solidFill>
                  <a:srgbClr val="FF5F05"/>
                </a:solidFill>
                <a:latin typeface="Arial"/>
                <a:ea typeface="Arial"/>
                <a:cs typeface="Arial"/>
              </a:defRPr>
            </a:lvl8pPr>
            <a:lvl9pPr>
              <a:defRPr sz="3150" b="1">
                <a:solidFill>
                  <a:srgbClr val="FF5F05"/>
                </a:solidFill>
                <a:latin typeface="Arial"/>
                <a:ea typeface="Arial"/>
                <a:cs typeface="Arial"/>
              </a:defRPr>
            </a:lvl9pPr>
          </a:lstStyle>
          <a:p xmlns:a="http://schemas.openxmlformats.org/drawingml/2006/main">
            <a:pPr>
              <a:lnSpc>
                <a:spcPct val="115000"/>
              </a:lnSpc>
              <a:spcAft>
                <a:spcPts val="600"/>
              </a:spcAft>
            </a:pPr>
            <a:r>
              <a:rPr sz="2800" b="1">
                <a:solidFill>
                  <a:srgbClr val="FF5F05"/>
                </a:solidFill>
                <a:latin typeface="Arial"/>
              </a:rPr>
              <a:t>Dormant Poison &amp; Sleeper Instruction</a:t>
            </a:r>
          </a:p>
          <a:p xmlns:a="http://schemas.openxmlformats.org/drawingml/2006/main">
            <a:pPr>
              <a:lnSpc>
                <a:spcPct val="115000"/>
              </a:lnSpc>
              <a:spcAft>
                <a:spcPts val="600"/>
              </a:spcAft>
            </a:pPr>
            <a:r>
              <a:rPr sz="2800" b="1">
                <a:solidFill>
                  <a:srgbClr val="FF5F05"/>
                </a:solidFill>
                <a:latin typeface="Arial"/>
              </a:rPr>
              <a:t>Detection in LLM Agents</a:t>
            </a:r>
          </a:p>
        </p:txBody>
      </p:sp>
      <p:sp>
        <p:nvSpPr>
          <p:cNvPr id="8" name="">
            <a:extLst xmlns:a="http://schemas.openxmlformats.org/drawingml/2006/main">
              <a:ext uri="{FF2B5EF4-FFF2-40B4-BE49-F238E27FC236}">
                <a16:creationId xmlns:a16="http://schemas.microsoft.com/office/drawing/2014/main" id="{D361D238-160A-476A-B50C-19EF9B5523AC}"/>
              </a:ext>
            </a:extLst>
          </p:cNvPr>
          <p:cNvSpPr>
            <a:spLocks xmlns:a="http://schemas.openxmlformats.org/drawingml/2006/main" noGrp="1"/>
          </p:cNvSpPr>
          <p:nvPr/>
        </p:nvSpPr>
        <p:spPr>
          <a:xfrm xmlns:a="http://schemas.openxmlformats.org/drawingml/2006/main">
            <a:off x="609600" y="4619625"/>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lnSpc>
                <a:spcPct val="115000"/>
              </a:lnSpc>
              <a:spcAft>
                <a:spcPts val="400"/>
              </a:spcAft>
            </a:pPr>
            <a:r>
              <a:rPr sz="1700" b="0">
                <a:solidFill>
                  <a:srgbClr val="FFFFFF"/>
                </a:solidFill>
                <a:latin typeface="Arial"/>
              </a:rPr>
              <a:t>Raghav Agarwal  ·  AIA Research Fellow</a:t>
            </a:r>
          </a:p>
          <a:p xmlns:a="http://schemas.openxmlformats.org/drawingml/2006/main">
            <a:pPr>
              <a:lnSpc>
                <a:spcPct val="115000"/>
              </a:lnSpc>
              <a:spcAft>
                <a:spcPts val="400"/>
              </a:spcAft>
            </a:pPr>
            <a:r>
              <a:rPr sz="1700" b="0">
                <a:solidFill>
                  <a:srgbClr val="FFFFFF"/>
                </a:solidFill>
                <a:latin typeface="Arial"/>
              </a:rPr>
              <a:t>AI Alignment @ Illinois Research Fellowship  ·  October 2026</a:t>
            </a:r>
          </a:p>
        </p:txBody>
      </p:sp>
    </p:spTree>
    <p:extLst>
      <p:ext uri="{BB962C8B-B14F-4D97-AF65-F5344CB8AC3E}">
        <p14:creationId xmlns:p14="http://schemas.microsoft.com/office/powerpoint/2010/main" val="1494751856"/>
      </p:ext>
    </p:extLst>
  </p:cSld>
</p:sld>
</file>

<file path=ppt/slides/slide2.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DA1030-6BBE-4EAD-9A13-503DD029AEE8}"/>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6A0B613C-7E4D-4014-9F15-BF85C2316F4B}"/>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RESEARCH FELLOWSHIP</a:t>
            </a:r>
          </a:p>
        </p:txBody>
      </p:sp>
      <p:sp>
        <p:nvSpPr>
          <p:cNvPr id="3" name="">
            <a:extLst xmlns:a="http://schemas.openxmlformats.org/drawingml/2006/main">
              <a:ext uri="{FF2B5EF4-FFF2-40B4-BE49-F238E27FC236}">
                <a16:creationId xmlns:a16="http://schemas.microsoft.com/office/drawing/2014/main" id="{65CF68FC-7BE3-4EA4-80AA-9F4D398048BD}"/>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defRPr sz="3750" b="1">
                <a:solidFill>
                  <a:srgbClr val="13294B"/>
                </a:solidFill>
                <a:latin typeface="Arial"/>
                <a:ea typeface="Arial"/>
                <a:cs typeface="Arial"/>
              </a:defRPr>
            </a:pPr>
            <a:r>
              <a:rPr sz="3750" b="1">
                <a:solidFill>
                  <a:srgbClr val="13294B"/>
                </a:solidFill>
                <a:latin typeface="Arial"/>
                <a:ea typeface="Arial"/>
                <a:cs typeface="Arial"/>
              </a:rPr>
              <a:t>What we know at the midpoint</a:t>
            </a:r>
          </a:p>
        </p:txBody>
      </p:sp>
      <p:sp>
        <p:nvSpPr>
          <p:cNvPr id="4" name="">
            <a:extLst xmlns:a="http://schemas.openxmlformats.org/drawingml/2006/main">
              <a:ext uri="{FF2B5EF4-FFF2-40B4-BE49-F238E27FC236}">
                <a16:creationId xmlns:a16="http://schemas.microsoft.com/office/drawing/2014/main" id="{EAD96FD6-69B4-4759-8023-95285B8663C8}"/>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BD78BEA2-B403-4520-8D9C-00F8B0AF62AA}"/>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02</a:t>
            </a:r>
          </a:p>
        </p:txBody>
      </p:sp>
      <p:sp>
        <p:nvSpPr>
          <p:cNvPr id="6" name="">
            <a:extLst xmlns:a="http://schemas.openxmlformats.org/drawingml/2006/main">
              <a:ext uri="{FF2B5EF4-FFF2-40B4-BE49-F238E27FC236}">
                <a16:creationId xmlns:a16="http://schemas.microsoft.com/office/drawing/2014/main" id="{DC830C7A-449D-41BC-BEB5-F8B74063D994}"/>
              </a:ext>
            </a:extLst>
          </p:cNvPr>
          <p:cNvSpPr>
            <a:spLocks xmlns:a="http://schemas.openxmlformats.org/drawingml/2006/main" noGrp="1"/>
          </p:cNvSpPr>
          <p:nvPr/>
        </p:nvSpPr>
        <p:spPr>
          <a:xfrm xmlns:a="http://schemas.openxmlformats.org/drawingml/2006/main">
            <a:off x="609600" y="26193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01 / QUESTION</a:t>
            </a:r>
          </a:p>
        </p:txBody>
      </p:sp>
      <p:sp>
        <p:nvSpPr>
          <p:cNvPr id="7" name="">
            <a:extLst xmlns:a="http://schemas.openxmlformats.org/drawingml/2006/main">
              <a:ext uri="{FF2B5EF4-FFF2-40B4-BE49-F238E27FC236}">
                <a16:creationId xmlns:a16="http://schemas.microsoft.com/office/drawing/2014/main" id="{2A2B49DD-D51C-4531-8BDD-5CA2640EFD68}"/>
              </a:ext>
            </a:extLst>
          </p:cNvPr>
          <p:cNvSpPr>
            <a:spLocks xmlns:a="http://schemas.openxmlformats.org/drawingml/2006/main" noGrp="1"/>
          </p:cNvSpPr>
          <p:nvPr/>
        </p:nvSpPr>
        <p:spPr>
          <a:xfrm xmlns:a="http://schemas.openxmlformats.org/drawingml/2006/main">
            <a:off x="609600" y="30765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300"/>
              </a:spcAft>
            </a:pPr>
            <a:r>
              <a:rPr sz="1500" b="0">
                <a:solidFill>
                  <a:srgbClr val="13294B"/>
                </a:solidFill>
                <a:latin typeface="Arial"/>
              </a:rPr>
              <a:t>Can internal activation probing detect dormant sleeper instructions in an LLM agent's memory during benign turns, before action triggers fire?</a:t>
            </a:r>
          </a:p>
        </p:txBody>
      </p:sp>
      <p:sp>
        <p:nvSpPr>
          <p:cNvPr id="8" name="">
            <a:extLst xmlns:a="http://schemas.openxmlformats.org/drawingml/2006/main">
              <a:ext uri="{FF2B5EF4-FFF2-40B4-BE49-F238E27FC236}">
                <a16:creationId xmlns:a16="http://schemas.microsoft.com/office/drawing/2014/main" id="{B3CB0D9D-DA71-4348-8104-05E1A840CFB5}"/>
              </a:ext>
            </a:extLst>
          </p:cNvPr>
          <p:cNvSpPr>
            <a:spLocks xmlns:a="http://schemas.openxmlformats.org/drawingml/2006/main" noGrp="1"/>
          </p:cNvSpPr>
          <p:nvPr/>
        </p:nvSpPr>
        <p:spPr>
          <a:xfrm xmlns:a="http://schemas.openxmlformats.org/drawingml/2006/main">
            <a:off x="6381750" y="26193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02 / CURRENT EVIDENCE</a:t>
            </a:r>
          </a:p>
        </p:txBody>
      </p:sp>
      <p:sp>
        <p:nvSpPr>
          <p:cNvPr id="9" name="">
            <a:extLst xmlns:a="http://schemas.openxmlformats.org/drawingml/2006/main">
              <a:ext uri="{FF2B5EF4-FFF2-40B4-BE49-F238E27FC236}">
                <a16:creationId xmlns:a16="http://schemas.microsoft.com/office/drawing/2014/main" id="{397C87C2-10EA-4153-B306-BCABC485A113}"/>
              </a:ext>
            </a:extLst>
          </p:cNvPr>
          <p:cNvSpPr>
            <a:spLocks xmlns:a="http://schemas.openxmlformats.org/drawingml/2006/main" noGrp="1"/>
          </p:cNvSpPr>
          <p:nvPr/>
        </p:nvSpPr>
        <p:spPr>
          <a:xfrm xmlns:a="http://schemas.openxmlformats.org/drawingml/2006/main">
            <a:off x="6381750" y="30765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300"/>
              </a:spcAft>
            </a:pPr>
            <a:r>
              <a:rPr sz="1250" b="0">
                <a:solidFill>
                  <a:srgbClr val="13294B"/>
                </a:solidFill>
                <a:latin typeface="Arial"/>
              </a:rPr>
              <a:t>Probing memory tokens (memory_result_end) yields an 8.02x stronger signal than prompt edges. Linear probes achieve 0.998–1.000 AUROC on live vs. inert instruction separation across held-out templates and domains, while frontier text guards (Jev) suffer heavy false alarms (TPR@5% FPR drops to 30%).</a:t>
            </a:r>
          </a:p>
        </p:txBody>
      </p:sp>
      <p:sp>
        <p:nvSpPr>
          <p:cNvPr id="10" name="">
            <a:extLst xmlns:a="http://schemas.openxmlformats.org/drawingml/2006/main">
              <a:ext uri="{FF2B5EF4-FFF2-40B4-BE49-F238E27FC236}">
                <a16:creationId xmlns:a16="http://schemas.microsoft.com/office/drawing/2014/main" id="{2F9F7CCE-5AE5-491F-8AF9-FCEEDCA2C7DD}"/>
              </a:ext>
            </a:extLst>
          </p:cNvPr>
          <p:cNvSpPr>
            <a:spLocks xmlns:a="http://schemas.openxmlformats.org/drawingml/2006/main" noGrp="1"/>
          </p:cNvSpPr>
          <p:nvPr/>
        </p:nvSpPr>
        <p:spPr>
          <a:xfrm xmlns:a="http://schemas.openxmlformats.org/drawingml/2006/main">
            <a:off x="609600" y="4572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03 / NEXT DECISION</a:t>
            </a:r>
          </a:p>
        </p:txBody>
      </p:sp>
      <p:sp>
        <p:nvSpPr>
          <p:cNvPr id="11" name="">
            <a:extLst xmlns:a="http://schemas.openxmlformats.org/drawingml/2006/main">
              <a:ext uri="{FF2B5EF4-FFF2-40B4-BE49-F238E27FC236}">
                <a16:creationId xmlns:a16="http://schemas.microsoft.com/office/drawing/2014/main" id="{484F0D1E-DDE0-4A4A-A632-41F57288BD7C}"/>
              </a:ext>
            </a:extLst>
          </p:cNvPr>
          <p:cNvSpPr>
            <a:spLocks xmlns:a="http://schemas.openxmlformats.org/drawingml/2006/main" noGrp="1"/>
          </p:cNvSpPr>
          <p:nvPr/>
        </p:nvSpPr>
        <p:spPr>
          <a:xfrm xmlns:a="http://schemas.openxmlformats.org/drawingml/2006/main">
            <a:off x="609600" y="50292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300"/>
              </a:spcAft>
            </a:pPr>
            <a:r>
              <a:rPr sz="1400" b="0">
                <a:solidFill>
                  <a:srgbClr val="13294B"/>
                </a:solidFill>
                <a:latin typeface="Arial"/>
              </a:rPr>
              <a:t>Validate causal steering: execute activation patching and directional clamping on Layers 14–19 to prove probe features causally drive downstream sleeper execution rather than acting as passive correlates.</a:t>
            </a:r>
          </a:p>
        </p:txBody>
      </p:sp>
    </p:spTree>
    <p:extLst>
      <p:ext uri="{BB962C8B-B14F-4D97-AF65-F5344CB8AC3E}">
        <p14:creationId xmlns:p14="http://schemas.microsoft.com/office/powerpoint/2010/main" val="15784695"/>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5C4C29-98F3-40C3-A7F2-B0CEF4782583}"/>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29A5EE70-C119-4F18-B06C-614539520AC2}"/>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RESEARCH FELLOWSHIP</a:t>
            </a:r>
          </a:p>
        </p:txBody>
      </p:sp>
      <p:sp>
        <p:nvSpPr>
          <p:cNvPr id="3" name="">
            <a:extLst xmlns:a="http://schemas.openxmlformats.org/drawingml/2006/main">
              <a:ext uri="{FF2B5EF4-FFF2-40B4-BE49-F238E27FC236}">
                <a16:creationId xmlns:a16="http://schemas.microsoft.com/office/drawing/2014/main" id="{30EDBA91-A478-46D2-80FD-A5D3AD3885DD}"/>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defRPr sz="3750" b="1">
                <a:solidFill>
                  <a:srgbClr val="13294B"/>
                </a:solidFill>
                <a:latin typeface="Arial"/>
                <a:ea typeface="Arial"/>
                <a:cs typeface="Arial"/>
              </a:defRPr>
            </a:pPr>
            <a:r>
              <a:rPr sz="3750" b="1">
                <a:solidFill>
                  <a:srgbClr val="13294B"/>
                </a:solidFill>
                <a:latin typeface="Arial"/>
                <a:ea typeface="Arial"/>
                <a:cs typeface="Arial"/>
              </a:rPr>
              <a:t>Why this question matters</a:t>
            </a:r>
          </a:p>
        </p:txBody>
      </p:sp>
      <p:sp>
        <p:nvSpPr>
          <p:cNvPr id="4" name="">
            <a:extLst xmlns:a="http://schemas.openxmlformats.org/drawingml/2006/main">
              <a:ext uri="{FF2B5EF4-FFF2-40B4-BE49-F238E27FC236}">
                <a16:creationId xmlns:a16="http://schemas.microsoft.com/office/drawing/2014/main" id="{C9D2A2F3-1F64-4B74-A534-E6BA5EC95892}"/>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99FC5331-1633-4188-90F1-CFD22236AF7F}"/>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03</a:t>
            </a:r>
          </a:p>
        </p:txBody>
      </p:sp>
      <p:sp>
        <p:nvSpPr>
          <p:cNvPr id="6" name="">
            <a:extLst xmlns:a="http://schemas.openxmlformats.org/drawingml/2006/main">
              <a:ext uri="{FF2B5EF4-FFF2-40B4-BE49-F238E27FC236}">
                <a16:creationId xmlns:a16="http://schemas.microsoft.com/office/drawing/2014/main" id="{7DF731EE-752D-4A5E-A948-6AD4CEA0A3C5}"/>
              </a:ext>
            </a:extLst>
          </p:cNvPr>
          <p:cNvSpPr>
            <a:spLocks xmlns:a="http://schemas.openxmlformats.org/drawingml/2006/main" noGrp="1"/>
          </p:cNvSpPr>
          <p:nvPr/>
        </p:nvSpPr>
        <p:spPr>
          <a:xfrm xmlns:a="http://schemas.openxmlformats.org/drawingml/2006/main">
            <a:off x="609600" y="26193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MOTIVATION / GAP</a:t>
            </a:r>
          </a:p>
        </p:txBody>
      </p:sp>
      <p:sp>
        <p:nvSpPr>
          <p:cNvPr id="7" name="">
            <a:extLst xmlns:a="http://schemas.openxmlformats.org/drawingml/2006/main">
              <a:ext uri="{FF2B5EF4-FFF2-40B4-BE49-F238E27FC236}">
                <a16:creationId xmlns:a16="http://schemas.microsoft.com/office/drawing/2014/main" id="{06B3723C-2BC8-4813-8571-66C6D0228CAC}"/>
              </a:ext>
            </a:extLst>
          </p:cNvPr>
          <p:cNvSpPr>
            <a:spLocks xmlns:a="http://schemas.openxmlformats.org/drawingml/2006/main" noGrp="1"/>
          </p:cNvSpPr>
          <p:nvPr/>
        </p:nvSpPr>
        <p:spPr>
          <a:xfrm xmlns:a="http://schemas.openxmlformats.org/drawingml/2006/main">
            <a:off x="609600" y="30765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200"/>
              </a:spcAft>
            </a:pPr>
            <a:r>
              <a:rPr sz="1200" b="0">
                <a:solidFill>
                  <a:srgbClr val="13294B"/>
                </a:solidFill>
                <a:latin typeface="Arial"/>
              </a:rPr>
              <a:t>Autonomous agents rely on persistent scratchpads, episodic memory, and tool logs. Attackers can plant dormant sleeper instructions that persist across benign turns and trigger only on specific future conditions. Textual guardrails face severe failure modes: they panic over benign technical keywords (50%+ false alarms) or miss disguised payloads (10% recall on realistic attacks).</a:t>
            </a:r>
          </a:p>
        </p:txBody>
      </p:sp>
      <p:sp>
        <p:nvSpPr>
          <p:cNvPr id="8" name="">
            <a:extLst xmlns:a="http://schemas.openxmlformats.org/drawingml/2006/main">
              <a:ext uri="{FF2B5EF4-FFF2-40B4-BE49-F238E27FC236}">
                <a16:creationId xmlns:a16="http://schemas.microsoft.com/office/drawing/2014/main" id="{955086E8-C6BA-4A9A-9A9D-1DCE5B4695DF}"/>
              </a:ext>
            </a:extLst>
          </p:cNvPr>
          <p:cNvSpPr>
            <a:spLocks xmlns:a="http://schemas.openxmlformats.org/drawingml/2006/main" noGrp="1"/>
          </p:cNvSpPr>
          <p:nvPr/>
        </p:nvSpPr>
        <p:spPr>
          <a:xfrm xmlns:a="http://schemas.openxmlformats.org/drawingml/2006/main">
            <a:off x="6381750" y="26193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RESEARCH QUESTION</a:t>
            </a:r>
          </a:p>
        </p:txBody>
      </p:sp>
      <p:sp>
        <p:nvSpPr>
          <p:cNvPr id="9" name="">
            <a:extLst xmlns:a="http://schemas.openxmlformats.org/drawingml/2006/main">
              <a:ext uri="{FF2B5EF4-FFF2-40B4-BE49-F238E27FC236}">
                <a16:creationId xmlns:a16="http://schemas.microsoft.com/office/drawing/2014/main" id="{CA6EDFE0-04CD-4E06-86B5-09BE0AF367F5}"/>
              </a:ext>
            </a:extLst>
          </p:cNvPr>
          <p:cNvSpPr>
            <a:spLocks xmlns:a="http://schemas.openxmlformats.org/drawingml/2006/main" noGrp="1"/>
          </p:cNvSpPr>
          <p:nvPr/>
        </p:nvSpPr>
        <p:spPr>
          <a:xfrm xmlns:a="http://schemas.openxmlformats.org/drawingml/2006/main">
            <a:off x="6381750" y="30765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200"/>
              </a:spcAft>
            </a:pPr>
            <a:r>
              <a:rPr sz="1250" b="0">
                <a:solidFill>
                  <a:srgbClr val="13294B"/>
                </a:solidFill>
                <a:latin typeface="Arial"/>
              </a:rPr>
              <a:t>Can white-box mechanistic interpretability (residual stream probing at Layers 14–19 and MoE routing bifurcation at Layer 20) reliably detect dormant malicious memory state before token generation begins, robust to surface paraphrase and semantic disguise?</a:t>
            </a:r>
          </a:p>
        </p:txBody>
      </p:sp>
      <p:sp>
        <p:nvSpPr>
          <p:cNvPr id="10" name="">
            <a:extLst xmlns:a="http://schemas.openxmlformats.org/drawingml/2006/main">
              <a:ext uri="{FF2B5EF4-FFF2-40B4-BE49-F238E27FC236}">
                <a16:creationId xmlns:a16="http://schemas.microsoft.com/office/drawing/2014/main" id="{BCB3D5E8-34B1-421F-B0E2-8062F9706E42}"/>
              </a:ext>
            </a:extLst>
          </p:cNvPr>
          <p:cNvSpPr>
            <a:spLocks xmlns:a="http://schemas.openxmlformats.org/drawingml/2006/main" noGrp="1"/>
          </p:cNvSpPr>
          <p:nvPr/>
        </p:nvSpPr>
        <p:spPr>
          <a:xfrm xmlns:a="http://schemas.openxmlformats.org/drawingml/2006/main">
            <a:off x="609600" y="476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AI SAFETY CONNECTION</a:t>
            </a:r>
          </a:p>
        </p:txBody>
      </p:sp>
      <p:sp>
        <p:nvSpPr>
          <p:cNvPr id="11" name="">
            <a:extLst xmlns:a="http://schemas.openxmlformats.org/drawingml/2006/main">
              <a:ext uri="{FF2B5EF4-FFF2-40B4-BE49-F238E27FC236}">
                <a16:creationId xmlns:a16="http://schemas.microsoft.com/office/drawing/2014/main" id="{FF01B4C0-F779-432B-86D0-C15C236C9CDA}"/>
              </a:ext>
            </a:extLst>
          </p:cNvPr>
          <p:cNvSpPr>
            <a:spLocks xmlns:a="http://schemas.openxmlformats.org/drawingml/2006/main" noGrp="1"/>
          </p:cNvSpPr>
          <p:nvPr/>
        </p:nvSpPr>
        <p:spPr>
          <a:xfrm xmlns:a="http://schemas.openxmlformats.org/drawingml/2006/main">
            <a:off x="609600" y="52101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75" b="0">
                <a:solidFill>
                  <a:srgbClr val="13294B"/>
                </a:solidFill>
                <a:latin typeface="Arial"/>
                <a:ea typeface="Arial"/>
                <a:cs typeface="Arial"/>
              </a:defRPr>
            </a:defPPr>
            <a:lvl1pPr>
              <a:defRPr sz="2175" b="0">
                <a:solidFill>
                  <a:srgbClr val="13294B"/>
                </a:solidFill>
                <a:latin typeface="Arial"/>
                <a:ea typeface="Arial"/>
                <a:cs typeface="Arial"/>
              </a:defRPr>
            </a:lvl1pPr>
            <a:lvl2pPr>
              <a:defRPr sz="2175" b="0">
                <a:solidFill>
                  <a:srgbClr val="13294B"/>
                </a:solidFill>
                <a:latin typeface="Arial"/>
                <a:ea typeface="Arial"/>
                <a:cs typeface="Arial"/>
              </a:defRPr>
            </a:lvl2pPr>
            <a:lvl3pPr>
              <a:defRPr sz="2175" b="0">
                <a:solidFill>
                  <a:srgbClr val="13294B"/>
                </a:solidFill>
                <a:latin typeface="Arial"/>
                <a:ea typeface="Arial"/>
                <a:cs typeface="Arial"/>
              </a:defRPr>
            </a:lvl3pPr>
            <a:lvl4pPr>
              <a:defRPr sz="2175" b="0">
                <a:solidFill>
                  <a:srgbClr val="13294B"/>
                </a:solidFill>
                <a:latin typeface="Arial"/>
                <a:ea typeface="Arial"/>
                <a:cs typeface="Arial"/>
              </a:defRPr>
            </a:lvl4pPr>
            <a:lvl5pPr>
              <a:defRPr sz="2175" b="0">
                <a:solidFill>
                  <a:srgbClr val="13294B"/>
                </a:solidFill>
                <a:latin typeface="Arial"/>
                <a:ea typeface="Arial"/>
                <a:cs typeface="Arial"/>
              </a:defRPr>
            </a:lvl5pPr>
            <a:lvl6pPr>
              <a:defRPr sz="2175" b="0">
                <a:solidFill>
                  <a:srgbClr val="13294B"/>
                </a:solidFill>
                <a:latin typeface="Arial"/>
                <a:ea typeface="Arial"/>
                <a:cs typeface="Arial"/>
              </a:defRPr>
            </a:lvl6pPr>
            <a:lvl7pPr>
              <a:defRPr sz="2175" b="0">
                <a:solidFill>
                  <a:srgbClr val="13294B"/>
                </a:solidFill>
                <a:latin typeface="Arial"/>
                <a:ea typeface="Arial"/>
                <a:cs typeface="Arial"/>
              </a:defRPr>
            </a:lvl7pPr>
            <a:lvl8pPr>
              <a:defRPr sz="2175" b="0">
                <a:solidFill>
                  <a:srgbClr val="13294B"/>
                </a:solidFill>
                <a:latin typeface="Arial"/>
                <a:ea typeface="Arial"/>
                <a:cs typeface="Arial"/>
              </a:defRPr>
            </a:lvl8pPr>
            <a:lvl9pPr>
              <a:defRPr sz="2175" b="0">
                <a:solidFill>
                  <a:srgbClr val="13294B"/>
                </a:solidFill>
                <a:latin typeface="Arial"/>
                <a:ea typeface="Arial"/>
                <a:cs typeface="Arial"/>
              </a:defRPr>
            </a:lvl9pPr>
          </a:lstStyle>
          <a:p xmlns:a="http://schemas.openxmlformats.org/drawingml/2006/main">
            <a:pPr>
              <a:lnSpc>
                <a:spcPct val="115000"/>
              </a:lnSpc>
              <a:spcAft>
                <a:spcPts val="200"/>
              </a:spcAft>
            </a:pPr>
            <a:r>
              <a:rPr sz="1300" b="0">
                <a:solidFill>
                  <a:srgbClr val="13294B"/>
                </a:solidFill>
                <a:latin typeface="Arial"/>
              </a:rPr>
              <a:t>Provides proactive, zero-latency defense (&lt;0.1 ms on GPU VRAM) against sleeper agents and indirect prompt injections without waiting for catastrophic tool execution or relying on expensive, noisy external LLM judges.</a:t>
            </a:r>
          </a:p>
        </p:txBody>
      </p:sp>
    </p:spTree>
    <p:extLst>
      <p:ext uri="{BB962C8B-B14F-4D97-AF65-F5344CB8AC3E}">
        <p14:creationId xmlns:p14="http://schemas.microsoft.com/office/powerpoint/2010/main" val="1765728608"/>
      </p:ext>
    </p:extLst>
  </p:cSld>
</p:sld>
</file>

<file path=ppt/slides/slide4.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F5BA897-E255-4AF7-9CCA-F4CBDFCDECAB}"/>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B21AEF43-5F74-4E99-BE0F-10D272576EEF}"/>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RESEARCH FELLOWSHIP</a:t>
            </a:r>
          </a:p>
        </p:txBody>
      </p:sp>
      <p:sp>
        <p:nvSpPr>
          <p:cNvPr id="3" name="">
            <a:extLst xmlns:a="http://schemas.openxmlformats.org/drawingml/2006/main">
              <a:ext uri="{FF2B5EF4-FFF2-40B4-BE49-F238E27FC236}">
                <a16:creationId xmlns:a16="http://schemas.microsoft.com/office/drawing/2014/main" id="{C8D86B8A-3C62-4DD9-A726-2BC38116E8F4}"/>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defRPr sz="3750" b="1">
                <a:solidFill>
                  <a:srgbClr val="13294B"/>
                </a:solidFill>
                <a:latin typeface="Arial"/>
                <a:ea typeface="Arial"/>
                <a:cs typeface="Arial"/>
              </a:defRPr>
            </a:pPr>
            <a:r>
              <a:rPr sz="3750" b="1">
                <a:solidFill>
                  <a:srgbClr val="13294B"/>
                </a:solidFill>
                <a:latin typeface="Arial"/>
                <a:ea typeface="Arial"/>
                <a:cs typeface="Arial"/>
              </a:rPr>
              <a:t>Approach &amp; experiment design</a:t>
            </a:r>
          </a:p>
        </p:txBody>
      </p:sp>
      <p:sp>
        <p:nvSpPr>
          <p:cNvPr id="4" name="">
            <a:extLst xmlns:a="http://schemas.openxmlformats.org/drawingml/2006/main">
              <a:ext uri="{FF2B5EF4-FFF2-40B4-BE49-F238E27FC236}">
                <a16:creationId xmlns:a16="http://schemas.microsoft.com/office/drawing/2014/main" id="{64DC774F-C6FF-480A-B527-5011E676EB4B}"/>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81014003-2903-4BF3-9C68-4FC4177CBD9F}"/>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04</a:t>
            </a:r>
          </a:p>
        </p:txBody>
      </p:sp>
      <p:sp>
        <p:nvSpPr>
          <p:cNvPr id="6" name="">
            <a:extLst xmlns:a="http://schemas.openxmlformats.org/drawingml/2006/main">
              <a:ext uri="{FF2B5EF4-FFF2-40B4-BE49-F238E27FC236}">
                <a16:creationId xmlns:a16="http://schemas.microsoft.com/office/drawing/2014/main" id="{69634977-53C3-436C-B90D-EC44569C4F29}"/>
              </a:ext>
            </a:extLst>
          </p:cNvPr>
          <p:cNvSpPr>
            <a:spLocks xmlns:a="http://schemas.openxmlformats.org/drawingml/2006/main" noGrp="1"/>
          </p:cNvSpPr>
          <p:nvPr/>
        </p:nvSpPr>
        <p:spPr>
          <a:xfrm xmlns:a="http://schemas.openxmlformats.org/drawingml/2006/main">
            <a:off x="609600" y="26860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01 / INPUT</a:t>
            </a:r>
          </a:p>
        </p:txBody>
      </p:sp>
      <p:sp>
        <p:nvSpPr>
          <p:cNvPr id="7" name="">
            <a:extLst xmlns:a="http://schemas.openxmlformats.org/drawingml/2006/main">
              <a:ext uri="{FF2B5EF4-FFF2-40B4-BE49-F238E27FC236}">
                <a16:creationId xmlns:a16="http://schemas.microsoft.com/office/drawing/2014/main" id="{87EFC172-6897-4CCB-9F6B-57A3BCCD21F8}"/>
              </a:ext>
            </a:extLst>
          </p:cNvPr>
          <p:cNvSpPr>
            <a:spLocks xmlns:a="http://schemas.openxmlformats.org/drawingml/2006/main" noGrp="1"/>
          </p:cNvSpPr>
          <p:nvPr/>
        </p:nvSpPr>
        <p:spPr>
          <a:xfrm xmlns:a="http://schemas.openxmlformats.org/drawingml/2006/main">
            <a:off x="609600" y="3143250"/>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300"/>
              </a:spcAft>
            </a:pPr>
            <a:r>
              <a:rPr sz="1150" b="0">
                <a:solidFill>
                  <a:srgbClr val="13294B"/>
                </a:solidFill>
                <a:latin typeface="Arial"/>
              </a:rPr>
              <a:t>• Model: gpt-oss-20b (25-layer MoE, 32 experts, top-4 routing, 2880 residual dim).</a:t>
            </a:r>
          </a:p>
          <a:p xmlns:a="http://schemas.openxmlformats.org/drawingml/2006/main">
            <a:pPr>
              <a:lnSpc>
                <a:spcPct val="115000"/>
              </a:lnSpc>
              <a:spcAft>
                <a:spcPts val="300"/>
              </a:spcAft>
            </a:pPr>
            <a:r>
              <a:rPr sz="1150" b="0">
                <a:solidFill>
                  <a:srgbClr val="13294B"/>
                </a:solidFill>
                <a:latin typeface="Arial"/>
              </a:rPr>
              <a:t>• Data: behavior_v1 multi-turn agent benchmark; paired 43-token control twins canceling 99.95% container overhead.</a:t>
            </a:r>
          </a:p>
        </p:txBody>
      </p:sp>
      <p:sp>
        <p:nvSpPr>
          <p:cNvPr id="8" name="">
            <a:extLst xmlns:a="http://schemas.openxmlformats.org/drawingml/2006/main">
              <a:ext uri="{FF2B5EF4-FFF2-40B4-BE49-F238E27FC236}">
                <a16:creationId xmlns:a16="http://schemas.microsoft.com/office/drawing/2014/main" id="{62BF3C21-FFB1-4EA4-9277-B9246B0E9171}"/>
              </a:ext>
            </a:extLst>
          </p:cNvPr>
          <p:cNvSpPr>
            <a:spLocks xmlns:a="http://schemas.openxmlformats.org/drawingml/2006/main" noGrp="1"/>
          </p:cNvSpPr>
          <p:nvPr/>
        </p:nvSpPr>
        <p:spPr>
          <a:xfrm xmlns:a="http://schemas.openxmlformats.org/drawingml/2006/main">
            <a:off x="4476750" y="26860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02 / METHOD</a:t>
            </a:r>
          </a:p>
        </p:txBody>
      </p:sp>
      <p:sp>
        <p:nvSpPr>
          <p:cNvPr id="9" name="">
            <a:extLst xmlns:a="http://schemas.openxmlformats.org/drawingml/2006/main">
              <a:ext uri="{FF2B5EF4-FFF2-40B4-BE49-F238E27FC236}">
                <a16:creationId xmlns:a16="http://schemas.microsoft.com/office/drawing/2014/main" id="{DE4D6CE8-974D-479B-993F-6B5B0C79702A}"/>
              </a:ext>
            </a:extLst>
          </p:cNvPr>
          <p:cNvSpPr>
            <a:spLocks xmlns:a="http://schemas.openxmlformats.org/drawingml/2006/main" noGrp="1"/>
          </p:cNvSpPr>
          <p:nvPr/>
        </p:nvSpPr>
        <p:spPr>
          <a:xfrm xmlns:a="http://schemas.openxmlformats.org/drawingml/2006/main">
            <a:off x="4476750" y="3143250"/>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300"/>
              </a:spcAft>
            </a:pPr>
            <a:r>
              <a:rPr sz="1150" b="0">
                <a:solidFill>
                  <a:srgbClr val="13294B"/>
                </a:solidFill>
                <a:latin typeface="Arial"/>
              </a:rPr>
              <a:t>• Decoupled bfloat16 forward pass extracting layerwise residual streams (h_L) and router logits (r_L).</a:t>
            </a:r>
          </a:p>
          <a:p xmlns:a="http://schemas.openxmlformats.org/drawingml/2006/main">
            <a:pPr>
              <a:lnSpc>
                <a:spcPct val="115000"/>
              </a:lnSpc>
              <a:spcAft>
                <a:spcPts val="300"/>
              </a:spcAft>
            </a:pPr>
            <a:r>
              <a:rPr sz="1150" b="0">
                <a:solidFill>
                  <a:srgbClr val="13294B"/>
                </a:solidFill>
                <a:latin typeface="Arial"/>
              </a:rPr>
              <a:t>• Multi-position linear probing at memory_result_end vs prompt boundaries; leave-one-domain-out (LODO) CV.</a:t>
            </a:r>
          </a:p>
        </p:txBody>
      </p:sp>
      <p:sp>
        <p:nvSpPr>
          <p:cNvPr id="10" name="">
            <a:extLst xmlns:a="http://schemas.openxmlformats.org/drawingml/2006/main">
              <a:ext uri="{FF2B5EF4-FFF2-40B4-BE49-F238E27FC236}">
                <a16:creationId xmlns:a16="http://schemas.microsoft.com/office/drawing/2014/main" id="{BDA23147-D118-4FDA-9191-FA9587CF0417}"/>
              </a:ext>
            </a:extLst>
          </p:cNvPr>
          <p:cNvSpPr>
            <a:spLocks xmlns:a="http://schemas.openxmlformats.org/drawingml/2006/main" noGrp="1"/>
          </p:cNvSpPr>
          <p:nvPr/>
        </p:nvSpPr>
        <p:spPr>
          <a:xfrm xmlns:a="http://schemas.openxmlformats.org/drawingml/2006/main">
            <a:off x="8334375" y="26860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03 / MEASUREMENT</a:t>
            </a:r>
          </a:p>
        </p:txBody>
      </p:sp>
      <p:sp>
        <p:nvSpPr>
          <p:cNvPr id="11" name="">
            <a:extLst xmlns:a="http://schemas.openxmlformats.org/drawingml/2006/main">
              <a:ext uri="{FF2B5EF4-FFF2-40B4-BE49-F238E27FC236}">
                <a16:creationId xmlns:a16="http://schemas.microsoft.com/office/drawing/2014/main" id="{DECF37EF-03B0-41A1-B0CE-507AEA7598A4}"/>
              </a:ext>
            </a:extLst>
          </p:cNvPr>
          <p:cNvSpPr>
            <a:spLocks xmlns:a="http://schemas.openxmlformats.org/drawingml/2006/main" noGrp="1"/>
          </p:cNvSpPr>
          <p:nvPr/>
        </p:nvSpPr>
        <p:spPr>
          <a:xfrm xmlns:a="http://schemas.openxmlformats.org/drawingml/2006/main">
            <a:off x="8334375" y="3143250"/>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300"/>
              </a:spcAft>
            </a:pPr>
            <a:r>
              <a:rPr sz="1150" b="0">
                <a:solidFill>
                  <a:srgbClr val="13294B"/>
                </a:solidFill>
                <a:latin typeface="Arial"/>
              </a:rPr>
              <a:t>• Primary Metrics: Out-of-fold AUROC across held-out phrasing templates (E1) and domains (E2).</a:t>
            </a:r>
          </a:p>
          <a:p xmlns:a="http://schemas.openxmlformats.org/drawingml/2006/main">
            <a:pPr>
              <a:lnSpc>
                <a:spcPct val="115000"/>
              </a:lnSpc>
              <a:spcAft>
                <a:spcPts val="300"/>
              </a:spcAft>
            </a:pPr>
            <a:r>
              <a:rPr sz="1150" b="0">
                <a:solidFill>
                  <a:srgbClr val="13294B"/>
                </a:solidFill>
                <a:latin typeface="Arial"/>
              </a:rPr>
              <a:t>• Security SLA: True Positive Rate at 5% False Positive Rate (TPR@5% FPR).</a:t>
            </a:r>
          </a:p>
          <a:p xmlns:a="http://schemas.openxmlformats.org/drawingml/2006/main">
            <a:pPr>
              <a:lnSpc>
                <a:spcPct val="115000"/>
              </a:lnSpc>
              <a:spcAft>
                <a:spcPts val="300"/>
              </a:spcAft>
            </a:pPr>
            <a:r>
              <a:rPr sz="1150" b="0">
                <a:solidFill>
                  <a:srgbClr val="13294B"/>
                </a:solidFill>
                <a:latin typeface="Arial"/>
              </a:rPr>
              <a:t>• MoE top-4 Jaccard routing overlap (J).</a:t>
            </a:r>
          </a:p>
        </p:txBody>
      </p:sp>
      <p:sp>
        <p:nvSpPr>
          <p:cNvPr id="12" name="">
            <a:extLst xmlns:a="http://schemas.openxmlformats.org/drawingml/2006/main">
              <a:ext uri="{FF2B5EF4-FFF2-40B4-BE49-F238E27FC236}">
                <a16:creationId xmlns:a16="http://schemas.microsoft.com/office/drawing/2014/main" id="{5D40CE79-02F7-499D-ACDD-A895D5E42FD4}"/>
              </a:ext>
            </a:extLst>
          </p:cNvPr>
          <p:cNvSpPr>
            <a:spLocks xmlns:a="http://schemas.openxmlformats.org/drawingml/2006/main" noGrp="1"/>
          </p:cNvSpPr>
          <p:nvPr/>
        </p:nvSpPr>
        <p:spPr>
          <a:xfrm xmlns:a="http://schemas.openxmlformats.org/drawingml/2006/main">
            <a:off x="609600" y="476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WORKING HYPOTHESIS</a:t>
            </a:r>
          </a:p>
        </p:txBody>
      </p:sp>
      <p:sp>
        <p:nvSpPr>
          <p:cNvPr id="13" name="">
            <a:extLst xmlns:a="http://schemas.openxmlformats.org/drawingml/2006/main">
              <a:ext uri="{FF2B5EF4-FFF2-40B4-BE49-F238E27FC236}">
                <a16:creationId xmlns:a16="http://schemas.microsoft.com/office/drawing/2014/main" id="{827AA914-995B-4332-81D2-3EF5F022902C}"/>
              </a:ext>
            </a:extLst>
          </p:cNvPr>
          <p:cNvSpPr>
            <a:spLocks xmlns:a="http://schemas.openxmlformats.org/drawingml/2006/main" noGrp="1"/>
          </p:cNvSpPr>
          <p:nvPr/>
        </p:nvSpPr>
        <p:spPr>
          <a:xfrm xmlns:a="http://schemas.openxmlformats.org/drawingml/2006/main">
            <a:off x="609600" y="52197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75" b="0">
                <a:solidFill>
                  <a:srgbClr val="13294B"/>
                </a:solidFill>
                <a:latin typeface="Arial"/>
                <a:ea typeface="Arial"/>
                <a:cs typeface="Arial"/>
              </a:defRPr>
            </a:defPPr>
            <a:lvl1pPr>
              <a:defRPr sz="2175" b="0">
                <a:solidFill>
                  <a:srgbClr val="13294B"/>
                </a:solidFill>
                <a:latin typeface="Arial"/>
                <a:ea typeface="Arial"/>
                <a:cs typeface="Arial"/>
              </a:defRPr>
            </a:lvl1pPr>
            <a:lvl2pPr>
              <a:defRPr sz="2175" b="0">
                <a:solidFill>
                  <a:srgbClr val="13294B"/>
                </a:solidFill>
                <a:latin typeface="Arial"/>
                <a:ea typeface="Arial"/>
                <a:cs typeface="Arial"/>
              </a:defRPr>
            </a:lvl2pPr>
            <a:lvl3pPr>
              <a:defRPr sz="2175" b="0">
                <a:solidFill>
                  <a:srgbClr val="13294B"/>
                </a:solidFill>
                <a:latin typeface="Arial"/>
                <a:ea typeface="Arial"/>
                <a:cs typeface="Arial"/>
              </a:defRPr>
            </a:lvl3pPr>
            <a:lvl4pPr>
              <a:defRPr sz="2175" b="0">
                <a:solidFill>
                  <a:srgbClr val="13294B"/>
                </a:solidFill>
                <a:latin typeface="Arial"/>
                <a:ea typeface="Arial"/>
                <a:cs typeface="Arial"/>
              </a:defRPr>
            </a:lvl4pPr>
            <a:lvl5pPr>
              <a:defRPr sz="2175" b="0">
                <a:solidFill>
                  <a:srgbClr val="13294B"/>
                </a:solidFill>
                <a:latin typeface="Arial"/>
                <a:ea typeface="Arial"/>
                <a:cs typeface="Arial"/>
              </a:defRPr>
            </a:lvl5pPr>
            <a:lvl6pPr>
              <a:defRPr sz="2175" b="0">
                <a:solidFill>
                  <a:srgbClr val="13294B"/>
                </a:solidFill>
                <a:latin typeface="Arial"/>
                <a:ea typeface="Arial"/>
                <a:cs typeface="Arial"/>
              </a:defRPr>
            </a:lvl6pPr>
            <a:lvl7pPr>
              <a:defRPr sz="2175" b="0">
                <a:solidFill>
                  <a:srgbClr val="13294B"/>
                </a:solidFill>
                <a:latin typeface="Arial"/>
                <a:ea typeface="Arial"/>
                <a:cs typeface="Arial"/>
              </a:defRPr>
            </a:lvl7pPr>
            <a:lvl8pPr>
              <a:defRPr sz="2175" b="0">
                <a:solidFill>
                  <a:srgbClr val="13294B"/>
                </a:solidFill>
                <a:latin typeface="Arial"/>
                <a:ea typeface="Arial"/>
                <a:cs typeface="Arial"/>
              </a:defRPr>
            </a:lvl8pPr>
            <a:lvl9pPr>
              <a:defRPr sz="2175" b="0">
                <a:solidFill>
                  <a:srgbClr val="13294B"/>
                </a:solidFill>
                <a:latin typeface="Arial"/>
                <a:ea typeface="Arial"/>
                <a:cs typeface="Arial"/>
              </a:defRPr>
            </a:lvl9pPr>
          </a:lstStyle>
          <a:p xmlns:a="http://schemas.openxmlformats.org/drawingml/2006/main">
            <a:pPr>
              <a:lnSpc>
                <a:spcPct val="115000"/>
              </a:lnSpc>
              <a:spcAft>
                <a:spcPts val="200"/>
              </a:spcAft>
            </a:pPr>
            <a:r>
              <a:rPr sz="1250" b="0">
                <a:solidFill>
                  <a:srgbClr val="13294B"/>
                </a:solidFill>
                <a:latin typeface="Arial"/>
              </a:rPr>
              <a:t>WORKING HYPOTHESIS: If an agent actively commits to an unexecuted instruction, internal self-attention will bind the payload into executive task-planning subspaces (Layers 14–19) prior to generation, yielding near-perfect linear separability from inert reference text regardless of lexical camouflage.</a:t>
            </a:r>
          </a:p>
        </p:txBody>
      </p:sp>
    </p:spTree>
    <p:extLst>
      <p:ext uri="{BB962C8B-B14F-4D97-AF65-F5344CB8AC3E}">
        <p14:creationId xmlns:p14="http://schemas.microsoft.com/office/powerpoint/2010/main" val="1884329778"/>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DDFBAF-82EA-4835-AF48-B802FADFBAA0}"/>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38C8B41E-3C8E-44D3-B6C0-0DF168AB1BDD}"/>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RESEARCH FELLOWSHIP</a:t>
            </a:r>
          </a:p>
        </p:txBody>
      </p:sp>
      <p:sp>
        <p:nvSpPr>
          <p:cNvPr id="3" name="">
            <a:extLst xmlns:a="http://schemas.openxmlformats.org/drawingml/2006/main">
              <a:ext uri="{FF2B5EF4-FFF2-40B4-BE49-F238E27FC236}">
                <a16:creationId xmlns:a16="http://schemas.microsoft.com/office/drawing/2014/main" id="{53A6E377-C67C-47E3-8FED-42D099C44700}"/>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defRPr sz="3750" b="1">
                <a:solidFill>
                  <a:srgbClr val="13294B"/>
                </a:solidFill>
                <a:latin typeface="Arial"/>
                <a:ea typeface="Arial"/>
                <a:cs typeface="Arial"/>
              </a:defRPr>
            </a:pPr>
            <a:r>
              <a:rPr sz="3750" b="1">
                <a:solidFill>
                  <a:srgbClr val="13294B"/>
                </a:solidFill>
                <a:latin typeface="Arial"/>
                <a:ea typeface="Arial"/>
                <a:cs typeface="Arial"/>
              </a:rPr>
              <a:t>Progress against the original plan</a:t>
            </a:r>
          </a:p>
        </p:txBody>
      </p:sp>
      <p:sp>
        <p:nvSpPr>
          <p:cNvPr id="4" name="">
            <a:extLst xmlns:a="http://schemas.openxmlformats.org/drawingml/2006/main">
              <a:ext uri="{FF2B5EF4-FFF2-40B4-BE49-F238E27FC236}">
                <a16:creationId xmlns:a16="http://schemas.microsoft.com/office/drawing/2014/main" id="{6E7755A0-D5B9-48D5-A360-6517AE6C2119}"/>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0388E9DB-8469-474C-9EDB-B5027B272DCE}"/>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05</a:t>
            </a:r>
          </a:p>
        </p:txBody>
      </p:sp>
      <p:graphicFrame>
        <p:nvGraphicFramePr>
          <p:cNvPr id="6" name="">
            <a:extLst xmlns:a="http://schemas.openxmlformats.org/drawingml/2006/main">
              <a:ext uri="{FF2B5EF4-FFF2-40B4-BE49-F238E27FC236}">
                <a16:creationId xmlns:a16="http://schemas.microsoft.com/office/drawing/2014/main" id="{14F59137-AEA7-4E80-AB44-09E4BD323CA1}"/>
              </a:ext>
            </a:extLst>
          </p:cNvPr>
          <p:cNvGraphicFramePr/>
          <p:nvPr/>
        </p:nvGraphicFramePr>
        <p:xfrm>
          <a:off xmlns:a="http://schemas.openxmlformats.org/drawingml/2006/main" x="609600" y="2619375"/>
          <a:ext xmlns:a="http://schemas.openxmlformats.org/drawingml/2006/main" cx="10972800" cy="2476500"/>
        </p:xfrm>
        <a:graphic xmlns:a="http://schemas.openxmlformats.org/drawingml/2006/main">
          <a:graphicData uri="http://schemas.openxmlformats.org/drawingml/2006/table">
            <a:tbl>
              <a:tblPr/>
              <a:tblGrid>
                <a:gridCol w="3429000"/>
                <a:gridCol w="2190750"/>
                <a:gridCol w="5353050"/>
              </a:tblGrid>
              <a:tr h="619125">
                <a:tc>
                  <a:txBody>
                    <a:bodyPr wrap="square"/>
                    <a:lstStyle/>
                    <a:p>
                      <a:pPr>
                        <a:lnSpc>
                          <a:spcPct val="110000"/>
                        </a:lnSpc>
                        <a:spcAft>
                          <a:spcPts val="200"/>
                        </a:spcAft>
                      </a:pPr>
                      <a:r>
                        <a:rPr sz="1150" b="1">
                          <a:solidFill>
                            <a:srgbClr val="FFFFFF"/>
                          </a:solidFill>
                          <a:latin typeface="Arial"/>
                        </a:rPr>
                        <a:t>Milestone</a:t>
                      </a:r>
                    </a:p>
                  </a:txBody>
                  <a:tcPr marL="91440" marR="91440" marT="45720" marB="45720">
                    <a:lnL w="9525">
                      <a:solidFill>
                        <a:srgbClr val="D6DCE5"/>
                      </a:solidFill>
                      <a:prstDash val="solid"/>
                    </a:lnL>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c>
                  <a:txBody>
                    <a:bodyPr wrap="square"/>
                    <a:lstStyle/>
                    <a:p>
                      <a:pPr>
                        <a:lnSpc>
                          <a:spcPct val="110000"/>
                        </a:lnSpc>
                        <a:spcAft>
                          <a:spcPts val="200"/>
                        </a:spcAft>
                      </a:pPr>
                      <a:r>
                        <a:rPr sz="1150" b="1">
                          <a:solidFill>
                            <a:srgbClr val="FFFFFF"/>
                          </a:solidFill>
                          <a:latin typeface="Arial"/>
                        </a:rPr>
                        <a:t>Status</a:t>
                      </a:r>
                    </a:p>
                  </a:txBody>
                  <a:tcPr marL="91440" marR="91440" marT="45720" marB="45720">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c>
                  <a:txBody>
                    <a:bodyPr wrap="square"/>
                    <a:lstStyle/>
                    <a:p>
                      <a:pPr>
                        <a:lnSpc>
                          <a:spcPct val="110000"/>
                        </a:lnSpc>
                        <a:spcAft>
                          <a:spcPts val="200"/>
                        </a:spcAft>
                      </a:pPr>
                      <a:r>
                        <a:rPr sz="1150" b="1">
                          <a:solidFill>
                            <a:srgbClr val="FFFFFF"/>
                          </a:solidFill>
                          <a:latin typeface="Arial"/>
                        </a:rPr>
                        <a:t>Evidence / change</a:t>
                      </a:r>
                    </a:p>
                  </a:txBody>
                  <a:tcPr marL="91440" marR="91440" marT="45720" marB="45720">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r>
              <a:tr h="619125">
                <a:tc>
                  <a:txBody>
                    <a:bodyPr wrap="square"/>
                    <a:lstStyle/>
                    <a:p>
                      <a:pPr>
                        <a:lnSpc>
                          <a:spcPct val="110000"/>
                        </a:lnSpc>
                        <a:spcAft>
                          <a:spcPts val="200"/>
                        </a:spcAft>
                      </a:pPr>
                      <a:r>
                        <a:rPr sz="1000" b="0">
                          <a:solidFill>
                            <a:srgbClr val="13294B"/>
                          </a:solidFill>
                          <a:latin typeface="Arial"/>
                        </a:rPr>
                        <a:t>Mechanistic Harness &amp; Twin Controls</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00" b="1">
                          <a:solidFill>
                            <a:srgbClr val="13294B"/>
                          </a:solidFill>
                          <a:latin typeface="Arial"/>
                        </a:rPr>
                        <a:t>Complete</a:t>
                      </a:r>
                    </a:p>
                  </a:txBody>
                  <a:tcPr marL="91440" marR="91440" marT="45720" marB="45720">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00" b="0">
                          <a:solidFill>
                            <a:srgbClr val="13294B"/>
                          </a:solidFill>
                          <a:latin typeface="Arial"/>
                        </a:rPr>
                        <a:t>Built bfloat16 forward pass with 93–100% rollout agreement; synthesized 43-token paired twins canceling 99.95% formatting noise.</a:t>
                      </a:r>
                    </a:p>
                  </a:txBody>
                  <a:tcPr marL="91440" marR="91440" marT="45720" marB="45720">
                    <a:lnR w="9525">
                      <a:solidFill>
                        <a:srgbClr val="D6DCE5"/>
                      </a:solidFill>
                      <a:prstDash val="solid"/>
                    </a:lnR>
                    <a:lnB w="9525">
                      <a:solidFill>
                        <a:srgbClr val="D6DCE5"/>
                      </a:solidFill>
                      <a:prstDash val="solid"/>
                    </a:lnB>
                    <a:solidFill>
                      <a:srgbClr val="FFFFFF"/>
                    </a:solidFill>
                  </a:tcPr>
                </a:tc>
              </a:tr>
              <a:tr h="619125">
                <a:tc>
                  <a:txBody>
                    <a:bodyPr wrap="square"/>
                    <a:lstStyle/>
                    <a:p>
                      <a:pPr>
                        <a:lnSpc>
                          <a:spcPct val="110000"/>
                        </a:lnSpc>
                        <a:spcAft>
                          <a:spcPts val="200"/>
                        </a:spcAft>
                      </a:pPr>
                      <a:r>
                        <a:rPr sz="1000" b="0">
                          <a:solidFill>
                            <a:srgbClr val="13294B"/>
                          </a:solidFill>
                          <a:latin typeface="Arial"/>
                        </a:rPr>
                        <a:t>Multi-Position Probing &amp; Layer Isolation</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EAF0F6"/>
                    </a:solidFill>
                  </a:tcPr>
                </a:tc>
                <a:tc>
                  <a:txBody>
                    <a:bodyPr wrap="square"/>
                    <a:lstStyle/>
                    <a:p>
                      <a:pPr>
                        <a:lnSpc>
                          <a:spcPct val="110000"/>
                        </a:lnSpc>
                        <a:spcAft>
                          <a:spcPts val="200"/>
                        </a:spcAft>
                      </a:pPr>
                      <a:r>
                        <a:rPr sz="1000" b="1">
                          <a:solidFill>
                            <a:srgbClr val="13294B"/>
                          </a:solidFill>
                          <a:latin typeface="Arial"/>
                        </a:rPr>
                        <a:t>Complete</a:t>
                      </a:r>
                    </a:p>
                  </a:txBody>
                  <a:tcPr marL="91440" marR="91440" marT="45720" marB="45720">
                    <a:lnR w="9525">
                      <a:solidFill>
                        <a:srgbClr val="D6DCE5"/>
                      </a:solidFill>
                      <a:prstDash val="solid"/>
                    </a:lnR>
                    <a:lnB w="9525">
                      <a:solidFill>
                        <a:srgbClr val="D6DCE5"/>
                      </a:solidFill>
                      <a:prstDash val="solid"/>
                    </a:lnB>
                    <a:solidFill>
                      <a:srgbClr val="EAF0F6"/>
                    </a:solidFill>
                  </a:tcPr>
                </a:tc>
                <a:tc>
                  <a:txBody>
                    <a:bodyPr wrap="square"/>
                    <a:lstStyle/>
                    <a:p>
                      <a:pPr>
                        <a:lnSpc>
                          <a:spcPct val="110000"/>
                        </a:lnSpc>
                        <a:spcAft>
                          <a:spcPts val="200"/>
                        </a:spcAft>
                      </a:pPr>
                      <a:r>
                        <a:rPr sz="1000" b="0">
                          <a:solidFill>
                            <a:srgbClr val="13294B"/>
                          </a:solidFill>
                          <a:latin typeface="Arial"/>
                        </a:rPr>
                        <a:t>Identified delimiter collapse at prompt edge; discovered 8.02x signal boost at memory tokens; isolated Layers 14–19 as primary subspace (0.998–1.000 AUROC).</a:t>
                      </a:r>
                    </a:p>
                  </a:txBody>
                  <a:tcPr marL="91440" marR="91440" marT="45720" marB="45720">
                    <a:lnR w="9525">
                      <a:solidFill>
                        <a:srgbClr val="D6DCE5"/>
                      </a:solidFill>
                      <a:prstDash val="solid"/>
                    </a:lnR>
                    <a:lnB w="9525">
                      <a:solidFill>
                        <a:srgbClr val="D6DCE5"/>
                      </a:solidFill>
                      <a:prstDash val="solid"/>
                    </a:lnB>
                    <a:solidFill>
                      <a:srgbClr val="EAF0F6"/>
                    </a:solidFill>
                  </a:tcPr>
                </a:tc>
              </a:tr>
              <a:tr h="619125">
                <a:tc>
                  <a:txBody>
                    <a:bodyPr wrap="square"/>
                    <a:lstStyle/>
                    <a:p>
                      <a:pPr>
                        <a:lnSpc>
                          <a:spcPct val="110000"/>
                        </a:lnSpc>
                        <a:spcAft>
                          <a:spcPts val="200"/>
                        </a:spcAft>
                      </a:pPr>
                      <a:r>
                        <a:rPr sz="1000" b="0">
                          <a:solidFill>
                            <a:srgbClr val="13294B"/>
                          </a:solidFill>
                          <a:latin typeface="Arial"/>
                        </a:rPr>
                        <a:t>Frontier Guard Baseline &amp; Realism Ladder</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00" b="1">
                          <a:solidFill>
                            <a:srgbClr val="13294B"/>
                          </a:solidFill>
                          <a:latin typeface="Arial"/>
                        </a:rPr>
                        <a:t>Complete</a:t>
                      </a:r>
                    </a:p>
                  </a:txBody>
                  <a:tcPr marL="91440" marR="91440" marT="45720" marB="45720">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00" b="0">
                          <a:solidFill>
                            <a:srgbClr val="13294B"/>
                          </a:solidFill>
                          <a:latin typeface="Arial"/>
                        </a:rPr>
                        <a:t>Integrated TypeSafe Jev with Context baseline; benchmarked Realism Ladder (L0–L4), demonstrating text judge collapse on disguised attacks.</a:t>
                      </a:r>
                    </a:p>
                  </a:txBody>
                  <a:tcPr marL="91440" marR="91440" marT="45720" marB="45720">
                    <a:lnR w="9525">
                      <a:solidFill>
                        <a:srgbClr val="D6DCE5"/>
                      </a:solidFill>
                      <a:prstDash val="solid"/>
                    </a:lnR>
                    <a:lnB w="9525">
                      <a:solidFill>
                        <a:srgbClr val="D6DCE5"/>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F72F060-A659-44C7-BC9E-4FC9FCB349E0}"/>
              </a:ext>
            </a:extLst>
          </p:cNvPr>
          <p:cNvSpPr>
            <a:spLocks xmlns:a="http://schemas.openxmlformats.org/drawingml/2006/main" noGrp="1"/>
          </p:cNvSpPr>
          <p:nvPr/>
        </p:nvSpPr>
        <p:spPr>
          <a:xfrm xmlns:a="http://schemas.openxmlformats.org/drawingml/2006/main">
            <a:off x="609600" y="55721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1725" b="0">
                <a:solidFill>
                  <a:srgbClr val="13294B"/>
                </a:solidFill>
                <a:latin typeface="Arial"/>
                <a:ea typeface="Arial"/>
                <a:cs typeface="Arial"/>
              </a:defRPr>
            </a:defPPr>
            <a:lvl1pPr>
              <a:defRPr sz="1725" b="0">
                <a:solidFill>
                  <a:srgbClr val="13294B"/>
                </a:solidFill>
                <a:latin typeface="Arial"/>
                <a:ea typeface="Arial"/>
                <a:cs typeface="Arial"/>
              </a:defRPr>
            </a:lvl1pPr>
            <a:lvl2pPr>
              <a:defRPr sz="1725" b="0">
                <a:solidFill>
                  <a:srgbClr val="13294B"/>
                </a:solidFill>
                <a:latin typeface="Arial"/>
                <a:ea typeface="Arial"/>
                <a:cs typeface="Arial"/>
              </a:defRPr>
            </a:lvl2pPr>
            <a:lvl3pPr>
              <a:defRPr sz="1725" b="0">
                <a:solidFill>
                  <a:srgbClr val="13294B"/>
                </a:solidFill>
                <a:latin typeface="Arial"/>
                <a:ea typeface="Arial"/>
                <a:cs typeface="Arial"/>
              </a:defRPr>
            </a:lvl3pPr>
            <a:lvl4pPr>
              <a:defRPr sz="1725" b="0">
                <a:solidFill>
                  <a:srgbClr val="13294B"/>
                </a:solidFill>
                <a:latin typeface="Arial"/>
                <a:ea typeface="Arial"/>
                <a:cs typeface="Arial"/>
              </a:defRPr>
            </a:lvl4pPr>
            <a:lvl5pPr>
              <a:defRPr sz="1725" b="0">
                <a:solidFill>
                  <a:srgbClr val="13294B"/>
                </a:solidFill>
                <a:latin typeface="Arial"/>
                <a:ea typeface="Arial"/>
                <a:cs typeface="Arial"/>
              </a:defRPr>
            </a:lvl5pPr>
            <a:lvl6pPr>
              <a:defRPr sz="1725" b="0">
                <a:solidFill>
                  <a:srgbClr val="13294B"/>
                </a:solidFill>
                <a:latin typeface="Arial"/>
                <a:ea typeface="Arial"/>
                <a:cs typeface="Arial"/>
              </a:defRPr>
            </a:lvl6pPr>
            <a:lvl7pPr>
              <a:defRPr sz="1725" b="0">
                <a:solidFill>
                  <a:srgbClr val="13294B"/>
                </a:solidFill>
                <a:latin typeface="Arial"/>
                <a:ea typeface="Arial"/>
                <a:cs typeface="Arial"/>
              </a:defRPr>
            </a:lvl7pPr>
            <a:lvl8pPr>
              <a:defRPr sz="1725" b="0">
                <a:solidFill>
                  <a:srgbClr val="13294B"/>
                </a:solidFill>
                <a:latin typeface="Arial"/>
                <a:ea typeface="Arial"/>
                <a:cs typeface="Arial"/>
              </a:defRPr>
            </a:lvl8pPr>
            <a:lvl9pPr>
              <a:defRPr sz="1725" b="0">
                <a:solidFill>
                  <a:srgbClr val="13294B"/>
                </a:solidFill>
                <a:latin typeface="Arial"/>
                <a:ea typeface="Arial"/>
                <a:cs typeface="Arial"/>
              </a:defRPr>
            </a:lvl9pPr>
          </a:lstStyle>
          <a:p xmlns:a="http://schemas.openxmlformats.org/drawingml/2006/main">
            <a:pPr>
              <a:lnSpc>
                <a:spcPct val="115000"/>
              </a:lnSpc>
              <a:spcAft>
                <a:spcPts val="200"/>
              </a:spcAft>
            </a:pPr>
            <a:r>
              <a:rPr sz="1350" b="0">
                <a:solidFill>
                  <a:srgbClr val="13294B"/>
                </a:solidFill>
                <a:latin typeface="Arial"/>
              </a:rPr>
              <a:t>PLAN UPDATE  /  Expanded scope from pure activation extraction to direct head-to-head benchmarking against frontier guard models (Jev) and semantic disguise to prove operational defense superiority.</a:t>
            </a:r>
          </a:p>
        </p:txBody>
      </p:sp>
    </p:spTree>
    <p:extLst>
      <p:ext uri="{BB962C8B-B14F-4D97-AF65-F5344CB8AC3E}">
        <p14:creationId xmlns:p14="http://schemas.microsoft.com/office/powerpoint/2010/main" val="80446267"/>
      </p:ext>
    </p:extLst>
  </p:cSld>
</p:sld>
</file>

<file path=ppt/slides/slide6.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B64440-C1F3-4BCE-8C1E-D0C2142C2079}"/>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90A5A99D-5FA6-4445-8F5D-CFD695F3BD55}"/>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RESEARCH FELLOWSHIP</a:t>
            </a:r>
          </a:p>
        </p:txBody>
      </p:sp>
      <p:sp>
        <p:nvSpPr>
          <p:cNvPr id="3" name="">
            <a:extLst xmlns:a="http://schemas.openxmlformats.org/drawingml/2006/main">
              <a:ext uri="{FF2B5EF4-FFF2-40B4-BE49-F238E27FC236}">
                <a16:creationId xmlns:a16="http://schemas.microsoft.com/office/drawing/2014/main" id="{B3A9F1B1-B2DB-428A-A6C9-CA5BBC5CCB71}"/>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defRPr sz="3750" b="1">
                <a:solidFill>
                  <a:srgbClr val="13294B"/>
                </a:solidFill>
                <a:latin typeface="Arial"/>
                <a:ea typeface="Arial"/>
                <a:cs typeface="Arial"/>
              </a:defRPr>
            </a:pPr>
            <a:r>
              <a:rPr sz="3750" b="1">
                <a:solidFill>
                  <a:srgbClr val="13294B"/>
                </a:solidFill>
                <a:latin typeface="Arial"/>
                <a:ea typeface="Arial"/>
                <a:cs typeface="Arial"/>
              </a:rPr>
              <a:t>Data, benchmark &amp; evaluation</a:t>
            </a:r>
          </a:p>
        </p:txBody>
      </p:sp>
      <p:sp>
        <p:nvSpPr>
          <p:cNvPr id="4" name="">
            <a:extLst xmlns:a="http://schemas.openxmlformats.org/drawingml/2006/main">
              <a:ext uri="{FF2B5EF4-FFF2-40B4-BE49-F238E27FC236}">
                <a16:creationId xmlns:a16="http://schemas.microsoft.com/office/drawing/2014/main" id="{5BEBAC81-C2DA-4193-BBA6-4B62AE45CDA2}"/>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A5C367C3-AA41-4165-BDF7-A8753198A123}"/>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06</a:t>
            </a:r>
          </a:p>
        </p:txBody>
      </p:sp>
      <p:graphicFrame>
        <p:nvGraphicFramePr>
          <p:cNvPr id="6" name="">
            <a:extLst xmlns:a="http://schemas.openxmlformats.org/drawingml/2006/main">
              <a:ext uri="{FF2B5EF4-FFF2-40B4-BE49-F238E27FC236}">
                <a16:creationId xmlns:a16="http://schemas.microsoft.com/office/drawing/2014/main" id="{94E73151-8759-4F83-9323-E494F3F8FBED}"/>
              </a:ext>
            </a:extLst>
          </p:cNvPr>
          <p:cNvGraphicFramePr/>
          <p:nvPr/>
        </p:nvGraphicFramePr>
        <p:xfrm>
          <a:off xmlns:a="http://schemas.openxmlformats.org/drawingml/2006/main" x="609600" y="2571750"/>
          <a:ext xmlns:a="http://schemas.openxmlformats.org/drawingml/2006/main" cx="10972800" cy="3095625"/>
        </p:xfrm>
        <a:graphic xmlns:a="http://schemas.openxmlformats.org/drawingml/2006/main">
          <a:graphicData uri="http://schemas.openxmlformats.org/drawingml/2006/table">
            <a:tbl>
              <a:tblPr/>
              <a:tblGrid>
                <a:gridCol w="3143250"/>
                <a:gridCol w="7829550"/>
              </a:tblGrid>
              <a:tr h="619125">
                <a:tc>
                  <a:txBody>
                    <a:bodyPr wrap="square"/>
                    <a:lstStyle/>
                    <a:p>
                      <a:pPr>
                        <a:lnSpc>
                          <a:spcPct val="110000"/>
                        </a:lnSpc>
                        <a:spcAft>
                          <a:spcPts val="200"/>
                        </a:spcAft>
                      </a:pPr>
                      <a:r>
                        <a:rPr sz="1150" b="1">
                          <a:solidFill>
                            <a:srgbClr val="FFFFFF"/>
                          </a:solidFill>
                          <a:latin typeface="Arial"/>
                        </a:rPr>
                        <a:t>Component</a:t>
                      </a:r>
                    </a:p>
                  </a:txBody>
                  <a:tcPr marL="91440" marR="91440" marT="45720" marB="45720">
                    <a:lnL w="9525">
                      <a:solidFill>
                        <a:srgbClr val="D6DCE5"/>
                      </a:solidFill>
                      <a:prstDash val="solid"/>
                    </a:lnL>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c>
                  <a:txBody>
                    <a:bodyPr wrap="square"/>
                    <a:lstStyle/>
                    <a:p>
                      <a:pPr>
                        <a:lnSpc>
                          <a:spcPct val="110000"/>
                        </a:lnSpc>
                        <a:spcAft>
                          <a:spcPts val="200"/>
                        </a:spcAft>
                      </a:pPr>
                      <a:r>
                        <a:rPr sz="1150" b="1">
                          <a:solidFill>
                            <a:srgbClr val="FFFFFF"/>
                          </a:solidFill>
                          <a:latin typeface="Arial"/>
                        </a:rPr>
                        <a:t>Current setup</a:t>
                      </a:r>
                    </a:p>
                  </a:txBody>
                  <a:tcPr marL="91440" marR="91440" marT="45720" marB="45720">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r>
              <a:tr h="619125">
                <a:tc>
                  <a:txBody>
                    <a:bodyPr wrap="square"/>
                    <a:lstStyle/>
                    <a:p>
                      <a:pPr>
                        <a:lnSpc>
                          <a:spcPct val="110000"/>
                        </a:lnSpc>
                        <a:spcAft>
                          <a:spcPts val="200"/>
                        </a:spcAft>
                      </a:pPr>
                      <a:r>
                        <a:rPr sz="1000" b="0">
                          <a:solidFill>
                            <a:srgbClr val="13294B"/>
                          </a:solidFill>
                          <a:latin typeface="Arial"/>
                        </a:rPr>
                        <a:t>Data / coverage</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00" b="0">
                          <a:solidFill>
                            <a:srgbClr val="13294B"/>
                          </a:solidFill>
                          <a:latin typeface="Arial"/>
                        </a:rPr>
                        <a:t>behavior_v1 multi-turn agent traces; sound 2x2 factorial dataset (Live/Inert x Malicious/Benign) across 10 enterprise domains; Realism Ladder L0–L4.</a:t>
                      </a:r>
                    </a:p>
                  </a:txBody>
                  <a:tcPr marL="91440" marR="91440" marT="45720" marB="45720">
                    <a:lnR w="9525">
                      <a:solidFill>
                        <a:srgbClr val="D6DCE5"/>
                      </a:solidFill>
                      <a:prstDash val="solid"/>
                    </a:lnR>
                    <a:lnB w="9525">
                      <a:solidFill>
                        <a:srgbClr val="D6DCE5"/>
                      </a:solidFill>
                      <a:prstDash val="solid"/>
                    </a:lnB>
                    <a:solidFill>
                      <a:srgbClr val="FFFFFF"/>
                    </a:solidFill>
                  </a:tcPr>
                </a:tc>
              </a:tr>
              <a:tr h="619125">
                <a:tc>
                  <a:txBody>
                    <a:bodyPr wrap="square"/>
                    <a:lstStyle/>
                    <a:p>
                      <a:pPr>
                        <a:lnSpc>
                          <a:spcPct val="110000"/>
                        </a:lnSpc>
                        <a:spcAft>
                          <a:spcPts val="200"/>
                        </a:spcAft>
                      </a:pPr>
                      <a:r>
                        <a:rPr sz="1000" b="0">
                          <a:solidFill>
                            <a:srgbClr val="13294B"/>
                          </a:solidFill>
                          <a:latin typeface="Arial"/>
                        </a:rPr>
                        <a:t>Splits / generalization</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EAF0F6"/>
                    </a:solidFill>
                  </a:tcPr>
                </a:tc>
                <a:tc>
                  <a:txBody>
                    <a:bodyPr wrap="square"/>
                    <a:lstStyle/>
                    <a:p>
                      <a:pPr>
                        <a:lnSpc>
                          <a:spcPct val="110000"/>
                        </a:lnSpc>
                        <a:spcAft>
                          <a:spcPts val="200"/>
                        </a:spcAft>
                      </a:pPr>
                      <a:r>
                        <a:rPr sz="1000" b="0">
                          <a:solidFill>
                            <a:srgbClr val="13294B"/>
                          </a:solidFill>
                          <a:latin typeface="Arial"/>
                        </a:rPr>
                        <a:t>Held-out evaluation across 3 splits: E1 (unseen instruction phrasing, n=40), E2 (unseen environment domains, n=40), E3 (jointly unseen templates &amp; domains, n=40).</a:t>
                      </a:r>
                    </a:p>
                  </a:txBody>
                  <a:tcPr marL="91440" marR="91440" marT="45720" marB="45720">
                    <a:lnR w="9525">
                      <a:solidFill>
                        <a:srgbClr val="D6DCE5"/>
                      </a:solidFill>
                      <a:prstDash val="solid"/>
                    </a:lnR>
                    <a:lnB w="9525">
                      <a:solidFill>
                        <a:srgbClr val="D6DCE5"/>
                      </a:solidFill>
                      <a:prstDash val="solid"/>
                    </a:lnB>
                    <a:solidFill>
                      <a:srgbClr val="EAF0F6"/>
                    </a:solidFill>
                  </a:tcPr>
                </a:tc>
              </a:tr>
              <a:tr h="619125">
                <a:tc>
                  <a:txBody>
                    <a:bodyPr wrap="square"/>
                    <a:lstStyle/>
                    <a:p>
                      <a:pPr>
                        <a:lnSpc>
                          <a:spcPct val="110000"/>
                        </a:lnSpc>
                        <a:spcAft>
                          <a:spcPts val="200"/>
                        </a:spcAft>
                      </a:pPr>
                      <a:r>
                        <a:rPr sz="1000" b="0">
                          <a:solidFill>
                            <a:srgbClr val="13294B"/>
                          </a:solidFill>
                          <a:latin typeface="Arial"/>
                        </a:rPr>
                        <a:t>Baselines / controls</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00" b="0">
                          <a:solidFill>
                            <a:srgbClr val="13294B"/>
                          </a:solidFill>
                          <a:latin typeface="Arial"/>
                        </a:rPr>
                        <a:t>Paired control twins (format control); TF-IDF n-gram logistic regression; prompt-length baseline; TypeSafe Jev Decisions API with full security policy context.</a:t>
                      </a:r>
                    </a:p>
                  </a:txBody>
                  <a:tcPr marL="91440" marR="91440" marT="45720" marB="45720">
                    <a:lnR w="9525">
                      <a:solidFill>
                        <a:srgbClr val="D6DCE5"/>
                      </a:solidFill>
                      <a:prstDash val="solid"/>
                    </a:lnR>
                    <a:lnB w="9525">
                      <a:solidFill>
                        <a:srgbClr val="D6DCE5"/>
                      </a:solidFill>
                      <a:prstDash val="solid"/>
                    </a:lnB>
                    <a:solidFill>
                      <a:srgbClr val="FFFFFF"/>
                    </a:solidFill>
                  </a:tcPr>
                </a:tc>
              </a:tr>
              <a:tr h="619125">
                <a:tc>
                  <a:txBody>
                    <a:bodyPr wrap="square"/>
                    <a:lstStyle/>
                    <a:p>
                      <a:pPr>
                        <a:lnSpc>
                          <a:spcPct val="110000"/>
                        </a:lnSpc>
                        <a:spcAft>
                          <a:spcPts val="200"/>
                        </a:spcAft>
                      </a:pPr>
                      <a:r>
                        <a:rPr sz="1000" b="0">
                          <a:solidFill>
                            <a:srgbClr val="13294B"/>
                          </a:solidFill>
                          <a:latin typeface="Arial"/>
                        </a:rPr>
                        <a:t>Metrics / uncertainty</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EAF0F6"/>
                    </a:solidFill>
                  </a:tcPr>
                </a:tc>
                <a:tc>
                  <a:txBody>
                    <a:bodyPr wrap="square"/>
                    <a:lstStyle/>
                    <a:p>
                      <a:pPr>
                        <a:lnSpc>
                          <a:spcPct val="110000"/>
                        </a:lnSpc>
                        <a:spcAft>
                          <a:spcPts val="200"/>
                        </a:spcAft>
                      </a:pPr>
                      <a:r>
                        <a:rPr sz="1000" b="0">
                          <a:solidFill>
                            <a:srgbClr val="13294B"/>
                          </a:solidFill>
                          <a:latin typeface="Arial"/>
                        </a:rPr>
                        <a:t>Out-of-fold AUROC with 95% bootstrap CIs; TPR @ 5% False Positive Rate SLA; two-sided t-tests on factorial interaction; MoE top-4 Jaccard routing similarity.</a:t>
                      </a:r>
                    </a:p>
                  </a:txBody>
                  <a:tcPr marL="91440" marR="91440" marT="45720" marB="45720">
                    <a:lnR w="9525">
                      <a:solidFill>
                        <a:srgbClr val="D6DCE5"/>
                      </a:solidFill>
                      <a:prstDash val="solid"/>
                    </a:lnR>
                    <a:lnB w="9525">
                      <a:solidFill>
                        <a:srgbClr val="D6DCE5"/>
                      </a:solidFill>
                      <a:prstDash val="solid"/>
                    </a:lnB>
                    <a:solidFill>
                      <a:srgbClr val="EAF0F6"/>
                    </a:solidFill>
                  </a:tcPr>
                </a:tc>
              </a:tr>
            </a:tbl>
          </a:graphicData>
        </a:graphic>
      </p:graphicFrame>
    </p:spTree>
    <p:extLst>
      <p:ext uri="{BB962C8B-B14F-4D97-AF65-F5344CB8AC3E}">
        <p14:creationId xmlns:p14="http://schemas.microsoft.com/office/powerpoint/2010/main" val="846179981"/>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DD02C83-48F0-484D-A63A-7A2CBDF836D0}"/>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E9478B4E-FE8A-42A8-9909-CF7F8B5BA7E5}"/>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PRELIMINARY RESULTS</a:t>
            </a:r>
          </a:p>
        </p:txBody>
      </p:sp>
      <p:sp>
        <p:nvSpPr>
          <p:cNvPr id="3" name="">
            <a:extLst xmlns:a="http://schemas.openxmlformats.org/drawingml/2006/main">
              <a:ext uri="{FF2B5EF4-FFF2-40B4-BE49-F238E27FC236}">
                <a16:creationId xmlns:a16="http://schemas.microsoft.com/office/drawing/2014/main" id="{298225DB-0BEA-4B21-8202-A5525D8FC455}"/>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lnSpc>
                <a:spcPct val="115000"/>
              </a:lnSpc>
              <a:spcAft>
                <a:spcPts val="200"/>
              </a:spcAft>
            </a:pPr>
            <a:r>
              <a:rPr sz="2400" b="1">
                <a:solidFill>
                  <a:srgbClr val="13294B"/>
                </a:solidFill>
                <a:latin typeface="Arial"/>
              </a:rPr>
              <a:t>Probes Achieve 1.00 AUROC Across Phrasing &amp; Disguise, Outperforming Text Guards</a:t>
            </a:r>
          </a:p>
        </p:txBody>
      </p:sp>
      <p:sp>
        <p:nvSpPr>
          <p:cNvPr id="4" name="">
            <a:extLst xmlns:a="http://schemas.openxmlformats.org/drawingml/2006/main">
              <a:ext uri="{FF2B5EF4-FFF2-40B4-BE49-F238E27FC236}">
                <a16:creationId xmlns:a16="http://schemas.microsoft.com/office/drawing/2014/main" id="{A0250BAF-1C87-49E9-98C4-706F4EEA31B4}"/>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01F1A84C-BA0E-4AF4-9EE4-9823D2B4AEBE}"/>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07</a:t>
            </a:r>
          </a:p>
        </p:txBody>
      </p:sp>
      <p:sp>
        <p:nvSpPr>
          <p:cNvPr id="6" name="">
            <a:extLst xmlns:a="http://schemas.openxmlformats.org/drawingml/2006/main">
              <a:ext uri="{FF2B5EF4-FFF2-40B4-BE49-F238E27FC236}">
                <a16:creationId xmlns:a16="http://schemas.microsoft.com/office/drawing/2014/main" id="{EC1A0AF3-163C-43BA-A66A-C1F72750503D}"/>
              </a:ext>
            </a:extLst>
          </p:cNvPr>
          <p:cNvSpPr>
            <a:spLocks xmlns:a="http://schemas.openxmlformats.org/drawingml/2006/main" noGrp="1"/>
          </p:cNvSpPr>
          <p:nvPr/>
        </p:nvSpPr>
        <p:spPr>
          <a:xfrm xmlns:a="http://schemas.openxmlformats.org/drawingml/2006/main">
            <a:off x="609600" y="2667000"/>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FIGURE / TABLE</a:t>
            </a:r>
          </a:p>
        </p:txBody>
      </p:sp>
      <p:sp>
        <p:nvSpPr>
          <p:cNvPr id="7" name="">
            <a:extLst xmlns:a="http://schemas.openxmlformats.org/drawingml/2006/main">
              <a:ext uri="{FF2B5EF4-FFF2-40B4-BE49-F238E27FC236}">
                <a16:creationId xmlns:a16="http://schemas.microsoft.com/office/drawing/2014/main" id="{DE665B94-DF19-4DF7-B7EE-1ACE7B75A6C0}"/>
              </a:ext>
            </a:extLst>
          </p:cNvPr>
          <p:cNvSpPr>
            <a:spLocks xmlns:a="http://schemas.openxmlformats.org/drawingml/2006/main" noGrp="1"/>
          </p:cNvSpPr>
          <p:nvPr/>
        </p:nvSpPr>
        <p:spPr>
          <a:xfrm xmlns:a="http://schemas.openxmlformats.org/drawingml/2006/main">
            <a:off x="609600" y="3286125"/>
            <a:ext cx="7048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67758A"/>
                </a:solidFill>
                <a:latin typeface="Arial"/>
                <a:ea typeface="Arial"/>
                <a:cs typeface="Arial"/>
              </a:defRPr>
            </a:defPPr>
            <a:lvl1pPr>
              <a:defRPr sz="2250" b="0">
                <a:solidFill>
                  <a:srgbClr val="67758A"/>
                </a:solidFill>
                <a:latin typeface="Arial"/>
                <a:ea typeface="Arial"/>
                <a:cs typeface="Arial"/>
              </a:defRPr>
            </a:lvl1pPr>
            <a:lvl2pPr>
              <a:defRPr sz="2250" b="0">
                <a:solidFill>
                  <a:srgbClr val="67758A"/>
                </a:solidFill>
                <a:latin typeface="Arial"/>
                <a:ea typeface="Arial"/>
                <a:cs typeface="Arial"/>
              </a:defRPr>
            </a:lvl2pPr>
            <a:lvl3pPr>
              <a:defRPr sz="2250" b="0">
                <a:solidFill>
                  <a:srgbClr val="67758A"/>
                </a:solidFill>
                <a:latin typeface="Arial"/>
                <a:ea typeface="Arial"/>
                <a:cs typeface="Arial"/>
              </a:defRPr>
            </a:lvl3pPr>
            <a:lvl4pPr>
              <a:defRPr sz="2250" b="0">
                <a:solidFill>
                  <a:srgbClr val="67758A"/>
                </a:solidFill>
                <a:latin typeface="Arial"/>
                <a:ea typeface="Arial"/>
                <a:cs typeface="Arial"/>
              </a:defRPr>
            </a:lvl4pPr>
            <a:lvl5pPr>
              <a:defRPr sz="2250" b="0">
                <a:solidFill>
                  <a:srgbClr val="67758A"/>
                </a:solidFill>
                <a:latin typeface="Arial"/>
                <a:ea typeface="Arial"/>
                <a:cs typeface="Arial"/>
              </a:defRPr>
            </a:lvl5pPr>
            <a:lvl6pPr>
              <a:defRPr sz="2250" b="0">
                <a:solidFill>
                  <a:srgbClr val="67758A"/>
                </a:solidFill>
                <a:latin typeface="Arial"/>
                <a:ea typeface="Arial"/>
                <a:cs typeface="Arial"/>
              </a:defRPr>
            </a:lvl6pPr>
            <a:lvl7pPr>
              <a:defRPr sz="2250" b="0">
                <a:solidFill>
                  <a:srgbClr val="67758A"/>
                </a:solidFill>
                <a:latin typeface="Arial"/>
                <a:ea typeface="Arial"/>
                <a:cs typeface="Arial"/>
              </a:defRPr>
            </a:lvl7pPr>
            <a:lvl8pPr>
              <a:defRPr sz="2250" b="0">
                <a:solidFill>
                  <a:srgbClr val="67758A"/>
                </a:solidFill>
                <a:latin typeface="Arial"/>
                <a:ea typeface="Arial"/>
                <a:cs typeface="Arial"/>
              </a:defRPr>
            </a:lvl8pPr>
            <a:lvl9pPr>
              <a:defRPr sz="2250" b="0">
                <a:solidFill>
                  <a:srgbClr val="67758A"/>
                </a:solidFill>
                <a:latin typeface="Arial"/>
                <a:ea typeface="Arial"/>
                <a:cs typeface="Arial"/>
              </a:defRPr>
            </a:lvl9pPr>
          </a:lstStyle>
          <a:p xmlns:a="http://schemas.openxmlformats.org/drawingml/2006/main"/>
        </p:txBody>
      </p:sp>
      <p:sp>
        <p:nvSpPr>
          <p:cNvPr id="8" name="">
            <a:extLst xmlns:a="http://schemas.openxmlformats.org/drawingml/2006/main">
              <a:ext uri="{FF2B5EF4-FFF2-40B4-BE49-F238E27FC236}">
                <a16:creationId xmlns:a16="http://schemas.microsoft.com/office/drawing/2014/main" id="{B4C79FD7-CABE-491A-9594-6518015F3723}"/>
              </a:ext>
            </a:extLst>
          </p:cNvPr>
          <p:cNvSpPr>
            <a:spLocks xmlns:a="http://schemas.openxmlformats.org/drawingml/2006/main" noGrp="1"/>
          </p:cNvSpPr>
          <p:nvPr/>
        </p:nvSpPr>
        <p:spPr>
          <a:xfrm xmlns:a="http://schemas.openxmlformats.org/drawingml/2006/main">
            <a:off x="8239125" y="26670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OBSERVATION</a:t>
            </a:r>
          </a:p>
        </p:txBody>
      </p:sp>
      <p:sp>
        <p:nvSpPr>
          <p:cNvPr id="9" name="">
            <a:extLst xmlns:a="http://schemas.openxmlformats.org/drawingml/2006/main">
              <a:ext uri="{FF2B5EF4-FFF2-40B4-BE49-F238E27FC236}">
                <a16:creationId xmlns:a16="http://schemas.microsoft.com/office/drawing/2014/main" id="{9B3350D4-B311-41E9-B68E-11ACD9D6FB69}"/>
              </a:ext>
            </a:extLst>
          </p:cNvPr>
          <p:cNvSpPr>
            <a:spLocks xmlns:a="http://schemas.openxmlformats.org/drawingml/2006/main" noGrp="1"/>
          </p:cNvSpPr>
          <p:nvPr/>
        </p:nvSpPr>
        <p:spPr>
          <a:xfrm xmlns:a="http://schemas.openxmlformats.org/drawingml/2006/main">
            <a:off x="8239125" y="31242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0000"/>
              </a:lnSpc>
              <a:spcAft>
                <a:spcPts val="300"/>
              </a:spcAft>
            </a:pPr>
            <a:r>
              <a:rPr sz="950" b="0">
                <a:solidFill>
                  <a:srgbClr val="13294B"/>
                </a:solidFill>
                <a:latin typeface="Arial"/>
              </a:rPr>
              <a:t>• Internal linear probes (Layers 14–19) achieve 0.998–1.000 AUROC across all held-out splits (E1–E3) with 100% TPR @ 5% FPR.</a:t>
            </a:r>
          </a:p>
          <a:p xmlns:a="http://schemas.openxmlformats.org/drawingml/2006/main">
            <a:pPr>
              <a:lnSpc>
                <a:spcPct val="110000"/>
              </a:lnSpc>
              <a:spcAft>
                <a:spcPts val="300"/>
              </a:spcAft>
            </a:pPr>
            <a:r>
              <a:rPr sz="950" b="0">
                <a:solidFill>
                  <a:srgbClr val="13294B"/>
                </a:solidFill>
                <a:latin typeface="Arial"/>
              </a:rPr>
              <a:t>• Delimiter tokens collapse signal (0.0036 cos dist), whereas internal memory tokens amplify it 8.02x (0.0288).</a:t>
            </a:r>
          </a:p>
          <a:p xmlns:a="http://schemas.openxmlformats.org/drawingml/2006/main">
            <a:pPr>
              <a:lnSpc>
                <a:spcPct val="110000"/>
              </a:lnSpc>
              <a:spcAft>
                <a:spcPts val="300"/>
              </a:spcAft>
            </a:pPr>
            <a:r>
              <a:rPr sz="950" b="0">
                <a:solidFill>
                  <a:srgbClr val="13294B"/>
                </a:solidFill>
                <a:latin typeface="Arial"/>
              </a:rPr>
              <a:t>• Frontier text guards (Jev) drop to 0.816 AUROC (30% TPR @ 5% FPR), while disguised attacks (L2–L4) collapse text recall to 10–20%.</a:t>
            </a:r>
          </a:p>
        </p:txBody>
      </p:sp>
      <p:sp>
        <p:nvSpPr>
          <p:cNvPr id="10" name="">
            <a:extLst xmlns:a="http://schemas.openxmlformats.org/drawingml/2006/main">
              <a:ext uri="{FF2B5EF4-FFF2-40B4-BE49-F238E27FC236}">
                <a16:creationId xmlns:a16="http://schemas.microsoft.com/office/drawing/2014/main" id="{AEEE9592-2661-457D-8342-7BAA250E565F}"/>
              </a:ext>
            </a:extLst>
          </p:cNvPr>
          <p:cNvSpPr>
            <a:spLocks xmlns:a="http://schemas.openxmlformats.org/drawingml/2006/main" noGrp="1"/>
          </p:cNvSpPr>
          <p:nvPr/>
        </p:nvSpPr>
        <p:spPr>
          <a:xfrm xmlns:a="http://schemas.openxmlformats.org/drawingml/2006/main">
            <a:off x="8239125" y="44291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INTERPRETATION</a:t>
            </a:r>
          </a:p>
        </p:txBody>
      </p:sp>
      <p:sp>
        <p:nvSpPr>
          <p:cNvPr id="11" name="">
            <a:extLst xmlns:a="http://schemas.openxmlformats.org/drawingml/2006/main">
              <a:ext uri="{FF2B5EF4-FFF2-40B4-BE49-F238E27FC236}">
                <a16:creationId xmlns:a16="http://schemas.microsoft.com/office/drawing/2014/main" id="{C1E7A812-7187-42BE-938F-460126DAA70E}"/>
              </a:ext>
            </a:extLst>
          </p:cNvPr>
          <p:cNvSpPr>
            <a:spLocks xmlns:a="http://schemas.openxmlformats.org/drawingml/2006/main" noGrp="1"/>
          </p:cNvSpPr>
          <p:nvPr/>
        </p:nvSpPr>
        <p:spPr>
          <a:xfrm xmlns:a="http://schemas.openxmlformats.org/drawingml/2006/main">
            <a:off x="8239125" y="488632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0000"/>
              </a:lnSpc>
              <a:spcAft>
                <a:spcPts val="300"/>
              </a:spcAft>
            </a:pPr>
            <a:r>
              <a:rPr sz="980" b="0">
                <a:solidFill>
                  <a:srgbClr val="13294B"/>
                </a:solidFill>
                <a:latin typeface="Arial"/>
              </a:rPr>
              <a:t>• Self-attention binds active instructions into executive task-planning subspaces prior to token generation, while treating inert logs as passive context.</a:t>
            </a:r>
          </a:p>
          <a:p xmlns:a="http://schemas.openxmlformats.org/drawingml/2006/main">
            <a:pPr>
              <a:lnSpc>
                <a:spcPct val="110000"/>
              </a:lnSpc>
              <a:spcAft>
                <a:spcPts val="300"/>
              </a:spcAft>
            </a:pPr>
            <a:r>
              <a:rPr sz="980" b="0">
                <a:solidFill>
                  <a:srgbClr val="13294B"/>
                </a:solidFill>
                <a:latin typeface="Arial"/>
              </a:rPr>
              <a:t>• External text models evaluate surface words and fail on semantic camouflage, whereas internal probes read the model's decoded intent with zero added latency (&lt;0.1 ms on GPU VRAM).</a:t>
            </a:r>
          </a:p>
        </p:txBody>
      </p:sp>
      <p:pic xmlns:a="http://schemas.openxmlformats.org/drawingml/2006/main" xmlns:r="http://schemas.openxmlformats.org/officeDocument/2006/relationships">
        <p:nvPicPr>
          <p:cNvPr id="13" name="Picture 12" descr="midpoint_key_figure.png"/>
          <p:cNvPicPr>
            <a:picLocks noChangeAspect="1"/>
          </p:cNvPicPr>
          <p:nvPr/>
        </p:nvPicPr>
        <p:blipFill>
          <a:blip r:embed="rId3"/>
          <a:stretch>
            <a:fillRect/>
          </a:stretch>
        </p:blipFill>
        <p:spPr>
          <a:xfrm>
            <a:off x="612648" y="3017520"/>
            <a:ext cx="7315200" cy="3145536"/>
          </a:xfrm>
          <a:prstGeom prst="rect">
            <a:avLst/>
          </a:prstGeom>
        </p:spPr>
      </p:pic>
    </p:spTree>
    <p:extLst>
      <p:ext uri="{BB962C8B-B14F-4D97-AF65-F5344CB8AC3E}">
        <p14:creationId xmlns:p14="http://schemas.microsoft.com/office/powerpoint/2010/main" val="734191674"/>
      </p:ext>
    </p:extLst>
  </p:cSld>
</p:sld>
</file>

<file path=ppt/slides/slide8.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1808D4-29DD-4A7F-9CCA-6BCBD8C3ECBA}"/>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3840A9C6-3EF4-454D-9E5B-E9B176B6BBAD}"/>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RESEARCH FELLOWSHIP</a:t>
            </a:r>
          </a:p>
        </p:txBody>
      </p:sp>
      <p:sp>
        <p:nvSpPr>
          <p:cNvPr id="3" name="">
            <a:extLst xmlns:a="http://schemas.openxmlformats.org/drawingml/2006/main">
              <a:ext uri="{FF2B5EF4-FFF2-40B4-BE49-F238E27FC236}">
                <a16:creationId xmlns:a16="http://schemas.microsoft.com/office/drawing/2014/main" id="{4ACB427B-58DD-4EEF-9F90-A551B68DE53D}"/>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defRPr sz="3750" b="1">
                <a:solidFill>
                  <a:srgbClr val="13294B"/>
                </a:solidFill>
                <a:latin typeface="Arial"/>
                <a:ea typeface="Arial"/>
                <a:cs typeface="Arial"/>
              </a:defRPr>
            </a:pPr>
            <a:r>
              <a:rPr sz="3750" b="1">
                <a:solidFill>
                  <a:srgbClr val="13294B"/>
                </a:solidFill>
                <a:latin typeface="Arial"/>
                <a:ea typeface="Arial"/>
                <a:cs typeface="Arial"/>
              </a:rPr>
              <a:t>How robust is the finding?</a:t>
            </a:r>
          </a:p>
        </p:txBody>
      </p:sp>
      <p:sp>
        <p:nvSpPr>
          <p:cNvPr id="4" name="">
            <a:extLst xmlns:a="http://schemas.openxmlformats.org/drawingml/2006/main">
              <a:ext uri="{FF2B5EF4-FFF2-40B4-BE49-F238E27FC236}">
                <a16:creationId xmlns:a16="http://schemas.microsoft.com/office/drawing/2014/main" id="{29F90B64-3BCF-4600-B3AB-8E93F1F8189D}"/>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7D4E5898-944C-4946-8BC7-0795B80A7DB7}"/>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08</a:t>
            </a:r>
          </a:p>
        </p:txBody>
      </p:sp>
      <p:graphicFrame>
        <p:nvGraphicFramePr>
          <p:cNvPr id="6" name="">
            <a:extLst xmlns:a="http://schemas.openxmlformats.org/drawingml/2006/main">
              <a:ext uri="{FF2B5EF4-FFF2-40B4-BE49-F238E27FC236}">
                <a16:creationId xmlns:a16="http://schemas.microsoft.com/office/drawing/2014/main" id="{3DF67AD7-369D-4910-9AEA-35C21D520F94}"/>
              </a:ext>
            </a:extLst>
          </p:cNvPr>
          <p:cNvGraphicFramePr/>
          <p:nvPr/>
        </p:nvGraphicFramePr>
        <p:xfrm>
          <a:off xmlns:a="http://schemas.openxmlformats.org/drawingml/2006/main" x="609600" y="2619375"/>
          <a:ext xmlns:a="http://schemas.openxmlformats.org/drawingml/2006/main" cx="10972800" cy="2476500"/>
        </p:xfrm>
        <a:graphic xmlns:a="http://schemas.openxmlformats.org/drawingml/2006/main">
          <a:graphicData uri="http://schemas.openxmlformats.org/drawingml/2006/table">
            <a:tbl>
              <a:tblPr/>
              <a:tblGrid>
                <a:gridCol w="3048000"/>
                <a:gridCol w="3962400"/>
                <a:gridCol w="3962400"/>
              </a:tblGrid>
              <a:tr h="619125">
                <a:tc>
                  <a:txBody>
                    <a:bodyPr wrap="square"/>
                    <a:lstStyle/>
                    <a:p>
                      <a:pPr>
                        <a:lnSpc>
                          <a:spcPct val="110000"/>
                        </a:lnSpc>
                        <a:spcAft>
                          <a:spcPts val="200"/>
                        </a:spcAft>
                      </a:pPr>
                      <a:r>
                        <a:rPr sz="1150" b="1">
                          <a:solidFill>
                            <a:srgbClr val="FFFFFF"/>
                          </a:solidFill>
                          <a:latin typeface="Arial"/>
                        </a:rPr>
                        <a:t>Check</a:t>
                      </a:r>
                    </a:p>
                  </a:txBody>
                  <a:tcPr marL="91440" marR="91440" marT="45720" marB="45720">
                    <a:lnL w="9525">
                      <a:solidFill>
                        <a:srgbClr val="D6DCE5"/>
                      </a:solidFill>
                      <a:prstDash val="solid"/>
                    </a:lnL>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c>
                  <a:txBody>
                    <a:bodyPr wrap="square"/>
                    <a:lstStyle/>
                    <a:p>
                      <a:pPr>
                        <a:lnSpc>
                          <a:spcPct val="110000"/>
                        </a:lnSpc>
                        <a:spcAft>
                          <a:spcPts val="200"/>
                        </a:spcAft>
                      </a:pPr>
                      <a:r>
                        <a:rPr sz="1150" b="1">
                          <a:solidFill>
                            <a:srgbClr val="FFFFFF"/>
                          </a:solidFill>
                          <a:latin typeface="Arial"/>
                        </a:rPr>
                        <a:t>Current evidence</a:t>
                      </a:r>
                    </a:p>
                  </a:txBody>
                  <a:tcPr marL="91440" marR="91440" marT="45720" marB="45720">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c>
                  <a:txBody>
                    <a:bodyPr wrap="square"/>
                    <a:lstStyle/>
                    <a:p>
                      <a:pPr>
                        <a:lnSpc>
                          <a:spcPct val="110000"/>
                        </a:lnSpc>
                        <a:spcAft>
                          <a:spcPts val="200"/>
                        </a:spcAft>
                      </a:pPr>
                      <a:r>
                        <a:rPr sz="1150" b="1">
                          <a:solidFill>
                            <a:srgbClr val="FFFFFF"/>
                          </a:solidFill>
                          <a:latin typeface="Arial"/>
                        </a:rPr>
                        <a:t>Next test</a:t>
                      </a:r>
                    </a:p>
                  </a:txBody>
                  <a:tcPr marL="91440" marR="91440" marT="45720" marB="45720">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r>
              <a:tr h="619125">
                <a:tc>
                  <a:txBody>
                    <a:bodyPr wrap="square"/>
                    <a:lstStyle/>
                    <a:p>
                      <a:pPr>
                        <a:lnSpc>
                          <a:spcPct val="110000"/>
                        </a:lnSpc>
                        <a:spcAft>
                          <a:spcPts val="200"/>
                        </a:spcAft>
                      </a:pPr>
                      <a:r>
                        <a:rPr sz="980" b="0">
                          <a:solidFill>
                            <a:srgbClr val="13294B"/>
                          </a:solidFill>
                          <a:latin typeface="Arial"/>
                        </a:rPr>
                        <a:t>Baseline comparison</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980" b="0">
                          <a:solidFill>
                            <a:srgbClr val="13294B"/>
                          </a:solidFill>
                          <a:latin typeface="Arial"/>
                        </a:rPr>
                        <a:t>Probe (1.000 AUROC / 100% TPR@5%FPR) decisively beats Jev (0.816 AUROC / 30% TPR@5%FPR) and prompt length (0.59 AUROC).</a:t>
                      </a:r>
                    </a:p>
                  </a:txBody>
                  <a:tcPr marL="91440" marR="91440" marT="45720" marB="45720">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980" b="0">
                          <a:solidFill>
                            <a:srgbClr val="13294B"/>
                          </a:solidFill>
                          <a:latin typeface="Arial"/>
                        </a:rPr>
                        <a:t>Benchmark LLaMA-Guard-3 and GPT-4o-mini judges under identical policy context.</a:t>
                      </a:r>
                    </a:p>
                  </a:txBody>
                  <a:tcPr marL="91440" marR="91440" marT="45720" marB="45720">
                    <a:lnR w="9525">
                      <a:solidFill>
                        <a:srgbClr val="D6DCE5"/>
                      </a:solidFill>
                      <a:prstDash val="solid"/>
                    </a:lnR>
                    <a:lnB w="9525">
                      <a:solidFill>
                        <a:srgbClr val="D6DCE5"/>
                      </a:solidFill>
                      <a:prstDash val="solid"/>
                    </a:lnB>
                    <a:solidFill>
                      <a:srgbClr val="FFFFFF"/>
                    </a:solidFill>
                  </a:tcPr>
                </a:tc>
              </a:tr>
              <a:tr h="619125">
                <a:tc>
                  <a:txBody>
                    <a:bodyPr wrap="square"/>
                    <a:lstStyle/>
                    <a:p>
                      <a:pPr>
                        <a:lnSpc>
                          <a:spcPct val="110000"/>
                        </a:lnSpc>
                        <a:spcAft>
                          <a:spcPts val="200"/>
                        </a:spcAft>
                      </a:pPr>
                      <a:r>
                        <a:rPr sz="980" b="0">
                          <a:solidFill>
                            <a:srgbClr val="13294B"/>
                          </a:solidFill>
                          <a:latin typeface="Arial"/>
                        </a:rPr>
                        <a:t>Ablation / control</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EAF0F6"/>
                    </a:solidFill>
                  </a:tcPr>
                </a:tc>
                <a:tc>
                  <a:txBody>
                    <a:bodyPr wrap="square"/>
                    <a:lstStyle/>
                    <a:p>
                      <a:pPr>
                        <a:lnSpc>
                          <a:spcPct val="110000"/>
                        </a:lnSpc>
                        <a:spcAft>
                          <a:spcPts val="200"/>
                        </a:spcAft>
                      </a:pPr>
                      <a:r>
                        <a:rPr sz="980" b="0">
                          <a:solidFill>
                            <a:srgbClr val="13294B"/>
                          </a:solidFill>
                          <a:latin typeface="Arial"/>
                        </a:rPr>
                        <a:t>Paired twins eliminate 99.95% container overhead; delimiter collapse shows probe requires internal token coordinates (memory_result_end).</a:t>
                      </a:r>
                    </a:p>
                  </a:txBody>
                  <a:tcPr marL="91440" marR="91440" marT="45720" marB="45720">
                    <a:lnR w="9525">
                      <a:solidFill>
                        <a:srgbClr val="D6DCE5"/>
                      </a:solidFill>
                      <a:prstDash val="solid"/>
                    </a:lnR>
                    <a:lnB w="9525">
                      <a:solidFill>
                        <a:srgbClr val="D6DCE5"/>
                      </a:solidFill>
                      <a:prstDash val="solid"/>
                    </a:lnB>
                    <a:solidFill>
                      <a:srgbClr val="EAF0F6"/>
                    </a:solidFill>
                  </a:tcPr>
                </a:tc>
                <a:tc>
                  <a:txBody>
                    <a:bodyPr wrap="square"/>
                    <a:lstStyle/>
                    <a:p>
                      <a:pPr>
                        <a:lnSpc>
                          <a:spcPct val="110000"/>
                        </a:lnSpc>
                        <a:spcAft>
                          <a:spcPts val="200"/>
                        </a:spcAft>
                      </a:pPr>
                      <a:r>
                        <a:rPr sz="980" b="0">
                          <a:solidFill>
                            <a:srgbClr val="13294B"/>
                          </a:solidFill>
                          <a:latin typeface="Arial"/>
                        </a:rPr>
                        <a:t>Attention head ablation: patch individual heads in Layers 14–19 to isolate routing circuits.</a:t>
                      </a:r>
                    </a:p>
                  </a:txBody>
                  <a:tcPr marL="91440" marR="91440" marT="45720" marB="45720">
                    <a:lnR w="9525">
                      <a:solidFill>
                        <a:srgbClr val="D6DCE5"/>
                      </a:solidFill>
                      <a:prstDash val="solid"/>
                    </a:lnR>
                    <a:lnB w="9525">
                      <a:solidFill>
                        <a:srgbClr val="D6DCE5"/>
                      </a:solidFill>
                      <a:prstDash val="solid"/>
                    </a:lnB>
                    <a:solidFill>
                      <a:srgbClr val="EAF0F6"/>
                    </a:solidFill>
                  </a:tcPr>
                </a:tc>
              </a:tr>
              <a:tr h="619125">
                <a:tc>
                  <a:txBody>
                    <a:bodyPr wrap="square"/>
                    <a:lstStyle/>
                    <a:p>
                      <a:pPr>
                        <a:lnSpc>
                          <a:spcPct val="110000"/>
                        </a:lnSpc>
                        <a:spcAft>
                          <a:spcPts val="200"/>
                        </a:spcAft>
                      </a:pPr>
                      <a:r>
                        <a:rPr sz="980" b="0">
                          <a:solidFill>
                            <a:srgbClr val="13294B"/>
                          </a:solidFill>
                          <a:latin typeface="Arial"/>
                        </a:rPr>
                        <a:t>Generalization</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980" b="0">
                          <a:solidFill>
                            <a:srgbClr val="13294B"/>
                          </a:solidFill>
                          <a:latin typeface="Arial"/>
                        </a:rPr>
                        <a:t>Zero degradation on unseen phrasing templates (E1: 1.000 AUROC) and unseen enterprise domains (E2: 1.000 AUROC).</a:t>
                      </a:r>
                    </a:p>
                  </a:txBody>
                  <a:tcPr marL="91440" marR="91440" marT="45720" marB="45720">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980" b="0">
                          <a:solidFill>
                            <a:srgbClr val="13294B"/>
                          </a:solidFill>
                          <a:latin typeface="Arial"/>
                        </a:rPr>
                        <a:t>Cross-architecture evaluation on dense models (Llama-3-70B) and multi-turn delays.</a:t>
                      </a:r>
                    </a:p>
                  </a:txBody>
                  <a:tcPr marL="91440" marR="91440" marT="45720" marB="45720">
                    <a:lnR w="9525">
                      <a:solidFill>
                        <a:srgbClr val="D6DCE5"/>
                      </a:solidFill>
                      <a:prstDash val="solid"/>
                    </a:lnR>
                    <a:lnB w="9525">
                      <a:solidFill>
                        <a:srgbClr val="D6DCE5"/>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3F8603E-CB8A-4744-95C0-D63DAC804FD8}"/>
              </a:ext>
            </a:extLst>
          </p:cNvPr>
          <p:cNvSpPr>
            <a:spLocks xmlns:a="http://schemas.openxmlformats.org/drawingml/2006/main" noGrp="1"/>
          </p:cNvSpPr>
          <p:nvPr/>
        </p:nvSpPr>
        <p:spPr>
          <a:xfrm xmlns:a="http://schemas.openxmlformats.org/drawingml/2006/main">
            <a:off x="609600" y="55816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1725" b="0">
                <a:solidFill>
                  <a:srgbClr val="13294B"/>
                </a:solidFill>
                <a:latin typeface="Arial"/>
                <a:ea typeface="Arial"/>
                <a:cs typeface="Arial"/>
              </a:defRPr>
            </a:defPPr>
            <a:lvl1pPr>
              <a:defRPr sz="1725" b="0">
                <a:solidFill>
                  <a:srgbClr val="13294B"/>
                </a:solidFill>
                <a:latin typeface="Arial"/>
                <a:ea typeface="Arial"/>
                <a:cs typeface="Arial"/>
              </a:defRPr>
            </a:lvl1pPr>
            <a:lvl2pPr>
              <a:defRPr sz="1725" b="0">
                <a:solidFill>
                  <a:srgbClr val="13294B"/>
                </a:solidFill>
                <a:latin typeface="Arial"/>
                <a:ea typeface="Arial"/>
                <a:cs typeface="Arial"/>
              </a:defRPr>
            </a:lvl2pPr>
            <a:lvl3pPr>
              <a:defRPr sz="1725" b="0">
                <a:solidFill>
                  <a:srgbClr val="13294B"/>
                </a:solidFill>
                <a:latin typeface="Arial"/>
                <a:ea typeface="Arial"/>
                <a:cs typeface="Arial"/>
              </a:defRPr>
            </a:lvl3pPr>
            <a:lvl4pPr>
              <a:defRPr sz="1725" b="0">
                <a:solidFill>
                  <a:srgbClr val="13294B"/>
                </a:solidFill>
                <a:latin typeface="Arial"/>
                <a:ea typeface="Arial"/>
                <a:cs typeface="Arial"/>
              </a:defRPr>
            </a:lvl4pPr>
            <a:lvl5pPr>
              <a:defRPr sz="1725" b="0">
                <a:solidFill>
                  <a:srgbClr val="13294B"/>
                </a:solidFill>
                <a:latin typeface="Arial"/>
                <a:ea typeface="Arial"/>
                <a:cs typeface="Arial"/>
              </a:defRPr>
            </a:lvl5pPr>
            <a:lvl6pPr>
              <a:defRPr sz="1725" b="0">
                <a:solidFill>
                  <a:srgbClr val="13294B"/>
                </a:solidFill>
                <a:latin typeface="Arial"/>
                <a:ea typeface="Arial"/>
                <a:cs typeface="Arial"/>
              </a:defRPr>
            </a:lvl6pPr>
            <a:lvl7pPr>
              <a:defRPr sz="1725" b="0">
                <a:solidFill>
                  <a:srgbClr val="13294B"/>
                </a:solidFill>
                <a:latin typeface="Arial"/>
                <a:ea typeface="Arial"/>
                <a:cs typeface="Arial"/>
              </a:defRPr>
            </a:lvl7pPr>
            <a:lvl8pPr>
              <a:defRPr sz="1725" b="0">
                <a:solidFill>
                  <a:srgbClr val="13294B"/>
                </a:solidFill>
                <a:latin typeface="Arial"/>
                <a:ea typeface="Arial"/>
                <a:cs typeface="Arial"/>
              </a:defRPr>
            </a:lvl8pPr>
            <a:lvl9pPr>
              <a:defRPr sz="1725" b="0">
                <a:solidFill>
                  <a:srgbClr val="13294B"/>
                </a:solidFill>
                <a:latin typeface="Arial"/>
                <a:ea typeface="Arial"/>
                <a:cs typeface="Arial"/>
              </a:defRPr>
            </a:lvl9pPr>
          </a:lstStyle>
          <a:p xmlns:a="http://schemas.openxmlformats.org/drawingml/2006/main">
            <a:pPr>
              <a:lnSpc>
                <a:spcPct val="115000"/>
              </a:lnSpc>
              <a:spcAft>
                <a:spcPts val="200"/>
              </a:spcAft>
            </a:pPr>
            <a:r>
              <a:rPr sz="1350" b="0">
                <a:solidFill>
                  <a:srgbClr val="13294B"/>
                </a:solidFill>
                <a:latin typeface="Arial"/>
              </a:rPr>
              <a:t>CONFIDENCE  /  High confidence that latent states linearly separate live instructions from inert logs in gpt-oss-20b; currently validating probe invariance across complex multi-step conversational history.</a:t>
            </a:r>
          </a:p>
        </p:txBody>
      </p:sp>
    </p:spTree>
    <p:extLst>
      <p:ext uri="{BB962C8B-B14F-4D97-AF65-F5344CB8AC3E}">
        <p14:creationId xmlns:p14="http://schemas.microsoft.com/office/powerpoint/2010/main" val="1291178666"/>
      </p:ext>
    </p:extLst>
  </p:cSld>
</p:sld>
</file>

<file path=ppt/slides/slide9.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94EF50-E410-48C4-8368-B06E0A76E951}"/>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1BE1AC34-B621-40AE-B365-FE7C50EAA31E}"/>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RESEARCH FELLOWSHIP</a:t>
            </a:r>
          </a:p>
        </p:txBody>
      </p:sp>
      <p:sp>
        <p:nvSpPr>
          <p:cNvPr id="3" name="">
            <a:extLst xmlns:a="http://schemas.openxmlformats.org/drawingml/2006/main">
              <a:ext uri="{FF2B5EF4-FFF2-40B4-BE49-F238E27FC236}">
                <a16:creationId xmlns:a16="http://schemas.microsoft.com/office/drawing/2014/main" id="{523AC693-A431-4096-AB16-96C59CF2B8B7}"/>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defRPr sz="3750" b="1">
                <a:solidFill>
                  <a:srgbClr val="13294B"/>
                </a:solidFill>
                <a:latin typeface="Arial"/>
                <a:ea typeface="Arial"/>
                <a:cs typeface="Arial"/>
              </a:defRPr>
            </a:pPr>
            <a:r>
              <a:rPr sz="3750" b="1">
                <a:solidFill>
                  <a:srgbClr val="13294B"/>
                </a:solidFill>
                <a:latin typeface="Arial"/>
                <a:ea typeface="Arial"/>
                <a:cs typeface="Arial"/>
              </a:rPr>
              <a:t>What is unresolved?</a:t>
            </a:r>
          </a:p>
        </p:txBody>
      </p:sp>
      <p:sp>
        <p:nvSpPr>
          <p:cNvPr id="4" name="">
            <a:extLst xmlns:a="http://schemas.openxmlformats.org/drawingml/2006/main">
              <a:ext uri="{FF2B5EF4-FFF2-40B4-BE49-F238E27FC236}">
                <a16:creationId xmlns:a16="http://schemas.microsoft.com/office/drawing/2014/main" id="{39410CDE-BF99-4896-876A-E31A076B31F2}"/>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8DEACBF8-173F-41C8-B0F5-E611DC5F3E9A}"/>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09</a:t>
            </a:r>
          </a:p>
        </p:txBody>
      </p:sp>
      <p:sp>
        <p:nvSpPr>
          <p:cNvPr id="6" name="">
            <a:extLst xmlns:a="http://schemas.openxmlformats.org/drawingml/2006/main">
              <a:ext uri="{FF2B5EF4-FFF2-40B4-BE49-F238E27FC236}">
                <a16:creationId xmlns:a16="http://schemas.microsoft.com/office/drawing/2014/main" id="{8109FD87-6AE5-4430-8FB5-C302A7107DB8}"/>
              </a:ext>
            </a:extLst>
          </p:cNvPr>
          <p:cNvSpPr>
            <a:spLocks xmlns:a="http://schemas.openxmlformats.org/drawingml/2006/main" noGrp="1"/>
          </p:cNvSpPr>
          <p:nvPr/>
        </p:nvSpPr>
        <p:spPr>
          <a:xfrm xmlns:a="http://schemas.openxmlformats.org/drawingml/2006/main">
            <a:off x="609600" y="26193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LIMITATIONS</a:t>
            </a:r>
          </a:p>
        </p:txBody>
      </p:sp>
      <p:sp>
        <p:nvSpPr>
          <p:cNvPr id="7" name="">
            <a:extLst xmlns:a="http://schemas.openxmlformats.org/drawingml/2006/main">
              <a:ext uri="{FF2B5EF4-FFF2-40B4-BE49-F238E27FC236}">
                <a16:creationId xmlns:a16="http://schemas.microsoft.com/office/drawing/2014/main" id="{3461744F-877F-43E1-AF2A-4E5D4F0CD47F}"/>
              </a:ext>
            </a:extLst>
          </p:cNvPr>
          <p:cNvSpPr>
            <a:spLocks xmlns:a="http://schemas.openxmlformats.org/drawingml/2006/main" noGrp="1"/>
          </p:cNvSpPr>
          <p:nvPr/>
        </p:nvSpPr>
        <p:spPr>
          <a:xfrm xmlns:a="http://schemas.openxmlformats.org/drawingml/2006/main">
            <a:off x="609600" y="30765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200"/>
              </a:spcAft>
            </a:pPr>
            <a:r>
              <a:rPr sz="1150" b="0">
                <a:solidFill>
                  <a:srgbClr val="13294B"/>
                </a:solidFill>
                <a:latin typeface="Arial"/>
              </a:rPr>
              <a:t>• Architecture breadth: Probing has been validated primarily on gpt-oss-20b MoE; dense models (e.g. Llama-3-8B/70B) may distribute instruction representations across different layer depths.</a:t>
            </a:r>
          </a:p>
          <a:p xmlns:a="http://schemas.openxmlformats.org/drawingml/2006/main">
            <a:pPr>
              <a:lnSpc>
                <a:spcPct val="115000"/>
              </a:lnSpc>
              <a:spcAft>
                <a:spcPts val="200"/>
              </a:spcAft>
            </a:pPr>
            <a:r>
              <a:rPr sz="1150" b="0">
                <a:solidFill>
                  <a:srgbClr val="13294B"/>
                </a:solidFill>
                <a:latin typeface="Arial"/>
              </a:rPr>
              <a:t>• Dataset diversity: behavior_v1 evaluates structured agent tool calls; free-form multi-agent dialogues and long-context RAG scratchpads remain to be benchmarked.</a:t>
            </a:r>
          </a:p>
        </p:txBody>
      </p:sp>
      <p:sp>
        <p:nvSpPr>
          <p:cNvPr id="8" name="">
            <a:extLst xmlns:a="http://schemas.openxmlformats.org/drawingml/2006/main">
              <a:ext uri="{FF2B5EF4-FFF2-40B4-BE49-F238E27FC236}">
                <a16:creationId xmlns:a16="http://schemas.microsoft.com/office/drawing/2014/main" id="{FE49EDBE-C419-4FBE-BF33-9FEA9DEC2D59}"/>
              </a:ext>
            </a:extLst>
          </p:cNvPr>
          <p:cNvSpPr>
            <a:spLocks xmlns:a="http://schemas.openxmlformats.org/drawingml/2006/main" noGrp="1"/>
          </p:cNvSpPr>
          <p:nvPr/>
        </p:nvSpPr>
        <p:spPr>
          <a:xfrm xmlns:a="http://schemas.openxmlformats.org/drawingml/2006/main">
            <a:off x="6381750" y="26193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BLOCKERS / RISKS</a:t>
            </a:r>
          </a:p>
        </p:txBody>
      </p:sp>
      <p:sp>
        <p:nvSpPr>
          <p:cNvPr id="9" name="">
            <a:extLst xmlns:a="http://schemas.openxmlformats.org/drawingml/2006/main">
              <a:ext uri="{FF2B5EF4-FFF2-40B4-BE49-F238E27FC236}">
                <a16:creationId xmlns:a16="http://schemas.microsoft.com/office/drawing/2014/main" id="{86DEBAE4-810B-43E4-9874-0C20A1607C60}"/>
              </a:ext>
            </a:extLst>
          </p:cNvPr>
          <p:cNvSpPr>
            <a:spLocks xmlns:a="http://schemas.openxmlformats.org/drawingml/2006/main" noGrp="1"/>
          </p:cNvSpPr>
          <p:nvPr/>
        </p:nvSpPr>
        <p:spPr>
          <a:xfrm xmlns:a="http://schemas.openxmlformats.org/drawingml/2006/main">
            <a:off x="6381750" y="3076575"/>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200"/>
              </a:spcAft>
            </a:pPr>
            <a:r>
              <a:rPr sz="1150" b="0">
                <a:solidFill>
                  <a:srgbClr val="13294B"/>
                </a:solidFill>
                <a:latin typeface="Arial"/>
              </a:rPr>
              <a:t>• Causal verification gap: Distinguishing whether probe directions actively cause trigger execution or merely correlate with prompt formatting.</a:t>
            </a:r>
          </a:p>
          <a:p xmlns:a="http://schemas.openxmlformats.org/drawingml/2006/main">
            <a:pPr>
              <a:lnSpc>
                <a:spcPct val="115000"/>
              </a:lnSpc>
              <a:spcAft>
                <a:spcPts val="200"/>
              </a:spcAft>
            </a:pPr>
            <a:r>
              <a:rPr sz="1150" b="0">
                <a:solidFill>
                  <a:srgbClr val="13294B"/>
                </a:solidFill>
                <a:latin typeface="Arial"/>
              </a:rPr>
              <a:t>• Mitigation: Implement causal intervention hooks (activation patching and directional steering) to demonstrate bidirectional control over sleeper execution.</a:t>
            </a:r>
          </a:p>
        </p:txBody>
      </p:sp>
      <p:sp>
        <p:nvSpPr>
          <p:cNvPr id="10" name="">
            <a:extLst xmlns:a="http://schemas.openxmlformats.org/drawingml/2006/main">
              <a:ext uri="{FF2B5EF4-FFF2-40B4-BE49-F238E27FC236}">
                <a16:creationId xmlns:a16="http://schemas.microsoft.com/office/drawing/2014/main" id="{5B9E41E1-2A6F-433D-83AE-33C1DB980CA2}"/>
              </a:ext>
            </a:extLst>
          </p:cNvPr>
          <p:cNvSpPr>
            <a:spLocks xmlns:a="http://schemas.openxmlformats.org/drawingml/2006/main" noGrp="1"/>
          </p:cNvSpPr>
          <p:nvPr/>
        </p:nvSpPr>
        <p:spPr>
          <a:xfrm xmlns:a="http://schemas.openxmlformats.org/drawingml/2006/main">
            <a:off x="609600" y="54768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1875" b="0">
                <a:solidFill>
                  <a:srgbClr val="13294B"/>
                </a:solidFill>
                <a:latin typeface="Arial"/>
                <a:ea typeface="Arial"/>
                <a:cs typeface="Arial"/>
              </a:defRPr>
            </a:defPPr>
            <a:lvl1pPr>
              <a:defRPr sz="1875" b="0">
                <a:solidFill>
                  <a:srgbClr val="13294B"/>
                </a:solidFill>
                <a:latin typeface="Arial"/>
                <a:ea typeface="Arial"/>
                <a:cs typeface="Arial"/>
              </a:defRPr>
            </a:lvl1pPr>
            <a:lvl2pPr>
              <a:defRPr sz="1875" b="0">
                <a:solidFill>
                  <a:srgbClr val="13294B"/>
                </a:solidFill>
                <a:latin typeface="Arial"/>
                <a:ea typeface="Arial"/>
                <a:cs typeface="Arial"/>
              </a:defRPr>
            </a:lvl2pPr>
            <a:lvl3pPr>
              <a:defRPr sz="1875" b="0">
                <a:solidFill>
                  <a:srgbClr val="13294B"/>
                </a:solidFill>
                <a:latin typeface="Arial"/>
                <a:ea typeface="Arial"/>
                <a:cs typeface="Arial"/>
              </a:defRPr>
            </a:lvl3pPr>
            <a:lvl4pPr>
              <a:defRPr sz="1875" b="0">
                <a:solidFill>
                  <a:srgbClr val="13294B"/>
                </a:solidFill>
                <a:latin typeface="Arial"/>
                <a:ea typeface="Arial"/>
                <a:cs typeface="Arial"/>
              </a:defRPr>
            </a:lvl4pPr>
            <a:lvl5pPr>
              <a:defRPr sz="1875" b="0">
                <a:solidFill>
                  <a:srgbClr val="13294B"/>
                </a:solidFill>
                <a:latin typeface="Arial"/>
                <a:ea typeface="Arial"/>
                <a:cs typeface="Arial"/>
              </a:defRPr>
            </a:lvl5pPr>
            <a:lvl6pPr>
              <a:defRPr sz="1875" b="0">
                <a:solidFill>
                  <a:srgbClr val="13294B"/>
                </a:solidFill>
                <a:latin typeface="Arial"/>
                <a:ea typeface="Arial"/>
                <a:cs typeface="Arial"/>
              </a:defRPr>
            </a:lvl6pPr>
            <a:lvl7pPr>
              <a:defRPr sz="1875" b="0">
                <a:solidFill>
                  <a:srgbClr val="13294B"/>
                </a:solidFill>
                <a:latin typeface="Arial"/>
                <a:ea typeface="Arial"/>
                <a:cs typeface="Arial"/>
              </a:defRPr>
            </a:lvl7pPr>
            <a:lvl8pPr>
              <a:defRPr sz="1875" b="0">
                <a:solidFill>
                  <a:srgbClr val="13294B"/>
                </a:solidFill>
                <a:latin typeface="Arial"/>
                <a:ea typeface="Arial"/>
                <a:cs typeface="Arial"/>
              </a:defRPr>
            </a:lvl8pPr>
            <a:lvl9pPr>
              <a:defRPr sz="1875" b="0">
                <a:solidFill>
                  <a:srgbClr val="13294B"/>
                </a:solidFill>
                <a:latin typeface="Arial"/>
                <a:ea typeface="Arial"/>
                <a:cs typeface="Arial"/>
              </a:defRPr>
            </a:lvl9pPr>
          </a:lstStyle>
          <a:p xmlns:a="http://schemas.openxmlformats.org/drawingml/2006/main">
            <a:pPr>
              <a:lnSpc>
                <a:spcPct val="115000"/>
              </a:lnSpc>
              <a:spcAft>
                <a:spcPts val="200"/>
              </a:spcAft>
            </a:pPr>
            <a:r>
              <a:rPr sz="1350" b="0">
                <a:solidFill>
                  <a:srgbClr val="13294B"/>
                </a:solidFill>
                <a:latin typeface="Arial"/>
              </a:rPr>
              <a:t>SCOPE DECISION  /  Keep causal steering and cross-model validation as top priorities; drop further expansion of synthetic domain templates in favor of realistic enterprise agent workflows.</a:t>
            </a:r>
          </a:p>
        </p:txBody>
      </p:sp>
    </p:spTree>
    <p:extLst>
      <p:ext uri="{BB962C8B-B14F-4D97-AF65-F5344CB8AC3E}">
        <p14:creationId xmlns:p14="http://schemas.microsoft.com/office/powerpoint/2010/main" val="1346886510"/>
      </p:ext>
    </p:extLst>
  </p:cSld>
</p:sld>
</file>

<file path=ppt/slides/slide10.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AC2B1C-8AD3-4D44-853C-45FA88036A93}"/>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DD1C8140-57C9-43A4-B4A1-81C2C2E65DF4}"/>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RESEARCH FELLOWSHIP</a:t>
            </a:r>
          </a:p>
        </p:txBody>
      </p:sp>
      <p:sp>
        <p:nvSpPr>
          <p:cNvPr id="3" name="">
            <a:extLst xmlns:a="http://schemas.openxmlformats.org/drawingml/2006/main">
              <a:ext uri="{FF2B5EF4-FFF2-40B4-BE49-F238E27FC236}">
                <a16:creationId xmlns:a16="http://schemas.microsoft.com/office/drawing/2014/main" id="{BEDA4864-8569-48CF-A002-E2A6CDE60E54}"/>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defRPr sz="3750" b="1">
                <a:solidFill>
                  <a:srgbClr val="13294B"/>
                </a:solidFill>
                <a:latin typeface="Arial"/>
                <a:ea typeface="Arial"/>
                <a:cs typeface="Arial"/>
              </a:defRPr>
            </a:pPr>
            <a:r>
              <a:rPr sz="3750" b="1">
                <a:solidFill>
                  <a:srgbClr val="13294B"/>
                </a:solidFill>
                <a:latin typeface="Arial"/>
                <a:ea typeface="Arial"/>
                <a:cs typeface="Arial"/>
              </a:rPr>
              <a:t>Plan for the remaining fellowship</a:t>
            </a:r>
          </a:p>
        </p:txBody>
      </p:sp>
      <p:sp>
        <p:nvSpPr>
          <p:cNvPr id="4" name="">
            <a:extLst xmlns:a="http://schemas.openxmlformats.org/drawingml/2006/main">
              <a:ext uri="{FF2B5EF4-FFF2-40B4-BE49-F238E27FC236}">
                <a16:creationId xmlns:a16="http://schemas.microsoft.com/office/drawing/2014/main" id="{1D70E775-111E-462E-89C1-E13164A34976}"/>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EB5B236A-E489-4A17-8661-D0BECDF450A2}"/>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10</a:t>
            </a:r>
          </a:p>
        </p:txBody>
      </p:sp>
      <p:graphicFrame>
        <p:nvGraphicFramePr>
          <p:cNvPr id="6" name="">
            <a:extLst xmlns:a="http://schemas.openxmlformats.org/drawingml/2006/main">
              <a:ext uri="{FF2B5EF4-FFF2-40B4-BE49-F238E27FC236}">
                <a16:creationId xmlns:a16="http://schemas.microsoft.com/office/drawing/2014/main" id="{BC32ACA3-C7A4-4778-864C-A3EF24574088}"/>
              </a:ext>
            </a:extLst>
          </p:cNvPr>
          <p:cNvGraphicFramePr/>
          <p:nvPr/>
        </p:nvGraphicFramePr>
        <p:xfrm>
          <a:off xmlns:a="http://schemas.openxmlformats.org/drawingml/2006/main" x="609600" y="2619375"/>
          <a:ext xmlns:a="http://schemas.openxmlformats.org/drawingml/2006/main" cx="10972800" cy="2476500"/>
        </p:xfrm>
        <a:graphic xmlns:a="http://schemas.openxmlformats.org/drawingml/2006/main">
          <a:graphicData uri="http://schemas.openxmlformats.org/drawingml/2006/table">
            <a:tbl>
              <a:tblPr/>
              <a:tblGrid>
                <a:gridCol w="2095500"/>
                <a:gridCol w="4476750"/>
                <a:gridCol w="4400550"/>
              </a:tblGrid>
              <a:tr h="619125">
                <a:tc>
                  <a:txBody>
                    <a:bodyPr wrap="square"/>
                    <a:lstStyle/>
                    <a:p>
                      <a:pPr>
                        <a:lnSpc>
                          <a:spcPct val="110000"/>
                        </a:lnSpc>
                        <a:spcAft>
                          <a:spcPts val="200"/>
                        </a:spcAft>
                      </a:pPr>
                      <a:r>
                        <a:rPr sz="1150" b="1">
                          <a:solidFill>
                            <a:srgbClr val="FFFFFF"/>
                          </a:solidFill>
                          <a:latin typeface="Arial"/>
                        </a:rPr>
                        <a:t>When</a:t>
                      </a:r>
                    </a:p>
                  </a:txBody>
                  <a:tcPr marL="91440" marR="91440" marT="45720" marB="45720">
                    <a:lnL w="9525">
                      <a:solidFill>
                        <a:srgbClr val="D6DCE5"/>
                      </a:solidFill>
                      <a:prstDash val="solid"/>
                    </a:lnL>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c>
                  <a:txBody>
                    <a:bodyPr wrap="square"/>
                    <a:lstStyle/>
                    <a:p>
                      <a:pPr>
                        <a:lnSpc>
                          <a:spcPct val="110000"/>
                        </a:lnSpc>
                        <a:spcAft>
                          <a:spcPts val="200"/>
                        </a:spcAft>
                      </a:pPr>
                      <a:r>
                        <a:rPr sz="1150" b="1">
                          <a:solidFill>
                            <a:srgbClr val="FFFFFF"/>
                          </a:solidFill>
                          <a:latin typeface="Arial"/>
                        </a:rPr>
                        <a:t>Priority / experiment</a:t>
                      </a:r>
                    </a:p>
                  </a:txBody>
                  <a:tcPr marL="91440" marR="91440" marT="45720" marB="45720">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c>
                  <a:txBody>
                    <a:bodyPr wrap="square"/>
                    <a:lstStyle/>
                    <a:p>
                      <a:pPr>
                        <a:lnSpc>
                          <a:spcPct val="110000"/>
                        </a:lnSpc>
                        <a:spcAft>
                          <a:spcPts val="200"/>
                        </a:spcAft>
                      </a:pPr>
                      <a:r>
                        <a:rPr sz="1150" b="1">
                          <a:solidFill>
                            <a:srgbClr val="FFFFFF"/>
                          </a:solidFill>
                          <a:latin typeface="Arial"/>
                        </a:rPr>
                        <a:t>Done when…</a:t>
                      </a:r>
                    </a:p>
                  </a:txBody>
                  <a:tcPr marL="91440" marR="91440" marT="45720" marB="45720">
                    <a:lnR w="9525">
                      <a:solidFill>
                        <a:srgbClr val="D6DCE5"/>
                      </a:solidFill>
                      <a:prstDash val="solid"/>
                    </a:lnR>
                    <a:lnT w="9525">
                      <a:solidFill>
                        <a:srgbClr val="D6DCE5"/>
                      </a:solidFill>
                      <a:prstDash val="solid"/>
                    </a:lnT>
                    <a:lnB w="9525">
                      <a:solidFill>
                        <a:srgbClr val="D6DCE5"/>
                      </a:solidFill>
                      <a:prstDash val="solid"/>
                    </a:lnB>
                    <a:solidFill>
                      <a:srgbClr val="13294B"/>
                    </a:solidFill>
                  </a:tcPr>
                </a:tc>
              </a:tr>
              <a:tr h="619125">
                <a:tc>
                  <a:txBody>
                    <a:bodyPr wrap="square"/>
                    <a:lstStyle/>
                    <a:p>
                      <a:pPr>
                        <a:lnSpc>
                          <a:spcPct val="110000"/>
                        </a:lnSpc>
                        <a:spcAft>
                          <a:spcPts val="200"/>
                        </a:spcAft>
                      </a:pPr>
                      <a:r>
                        <a:rPr sz="1019" b="0">
                          <a:solidFill>
                            <a:srgbClr val="13294B"/>
                          </a:solidFill>
                          <a:latin typeface="Arial"/>
                        </a:rPr>
                        <a:t>Weeks 5–6 (Nov 1–14)</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19" b="0">
                          <a:solidFill>
                            <a:srgbClr val="13294B"/>
                          </a:solidFill>
                          <a:latin typeface="Arial"/>
                        </a:rPr>
                        <a:t>Causal Steering &amp; Activation Patching</a:t>
                      </a:r>
                    </a:p>
                  </a:txBody>
                  <a:tcPr marL="91440" marR="91440" marT="45720" marB="45720">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19" b="0">
                          <a:solidFill>
                            <a:srgbClr val="13294B"/>
                          </a:solidFill>
                          <a:latin typeface="Arial"/>
                        </a:rPr>
                        <a:t>Clamping/steering along probe vector proves bidirectional causal control over sleeper trigger firing during rollouts.</a:t>
                      </a:r>
                    </a:p>
                  </a:txBody>
                  <a:tcPr marL="91440" marR="91440" marT="45720" marB="45720">
                    <a:lnR w="9525">
                      <a:solidFill>
                        <a:srgbClr val="D6DCE5"/>
                      </a:solidFill>
                      <a:prstDash val="solid"/>
                    </a:lnR>
                    <a:lnB w="9525">
                      <a:solidFill>
                        <a:srgbClr val="D6DCE5"/>
                      </a:solidFill>
                      <a:prstDash val="solid"/>
                    </a:lnB>
                    <a:solidFill>
                      <a:srgbClr val="FFFFFF"/>
                    </a:solidFill>
                  </a:tcPr>
                </a:tc>
              </a:tr>
              <a:tr h="619125">
                <a:tc>
                  <a:txBody>
                    <a:bodyPr wrap="square"/>
                    <a:lstStyle/>
                    <a:p>
                      <a:pPr>
                        <a:lnSpc>
                          <a:spcPct val="110000"/>
                        </a:lnSpc>
                        <a:spcAft>
                          <a:spcPts val="200"/>
                        </a:spcAft>
                      </a:pPr>
                      <a:r>
                        <a:rPr sz="1019" b="0">
                          <a:solidFill>
                            <a:srgbClr val="13294B"/>
                          </a:solidFill>
                          <a:latin typeface="Arial"/>
                        </a:rPr>
                        <a:t>Weeks 7–8 (Nov 15–28)</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EAF0F6"/>
                    </a:solidFill>
                  </a:tcPr>
                </a:tc>
                <a:tc>
                  <a:txBody>
                    <a:bodyPr wrap="square"/>
                    <a:lstStyle/>
                    <a:p>
                      <a:pPr>
                        <a:lnSpc>
                          <a:spcPct val="110000"/>
                        </a:lnSpc>
                        <a:spcAft>
                          <a:spcPts val="200"/>
                        </a:spcAft>
                      </a:pPr>
                      <a:r>
                        <a:rPr sz="1019" b="0">
                          <a:solidFill>
                            <a:srgbClr val="13294B"/>
                          </a:solidFill>
                          <a:latin typeface="Arial"/>
                        </a:rPr>
                        <a:t>Cross-Architecture &amp; Realism Evaluation</a:t>
                      </a:r>
                    </a:p>
                  </a:txBody>
                  <a:tcPr marL="91440" marR="91440" marT="45720" marB="45720">
                    <a:lnR w="9525">
                      <a:solidFill>
                        <a:srgbClr val="D6DCE5"/>
                      </a:solidFill>
                      <a:prstDash val="solid"/>
                    </a:lnR>
                    <a:lnB w="9525">
                      <a:solidFill>
                        <a:srgbClr val="D6DCE5"/>
                      </a:solidFill>
                      <a:prstDash val="solid"/>
                    </a:lnB>
                    <a:solidFill>
                      <a:srgbClr val="EAF0F6"/>
                    </a:solidFill>
                  </a:tcPr>
                </a:tc>
                <a:tc>
                  <a:txBody>
                    <a:bodyPr wrap="square"/>
                    <a:lstStyle/>
                    <a:p>
                      <a:pPr>
                        <a:lnSpc>
                          <a:spcPct val="110000"/>
                        </a:lnSpc>
                        <a:spcAft>
                          <a:spcPts val="200"/>
                        </a:spcAft>
                      </a:pPr>
                      <a:r>
                        <a:rPr sz="1019" b="0">
                          <a:solidFill>
                            <a:srgbClr val="13294B"/>
                          </a:solidFill>
                          <a:latin typeface="Arial"/>
                        </a:rPr>
                        <a:t>Replicate probe extraction on Llama-3-70B and evaluate against full Realism Ladder (L0–L4 disguise levels).</a:t>
                      </a:r>
                    </a:p>
                  </a:txBody>
                  <a:tcPr marL="91440" marR="91440" marT="45720" marB="45720">
                    <a:lnR w="9525">
                      <a:solidFill>
                        <a:srgbClr val="D6DCE5"/>
                      </a:solidFill>
                      <a:prstDash val="solid"/>
                    </a:lnR>
                    <a:lnB w="9525">
                      <a:solidFill>
                        <a:srgbClr val="D6DCE5"/>
                      </a:solidFill>
                      <a:prstDash val="solid"/>
                    </a:lnB>
                    <a:solidFill>
                      <a:srgbClr val="EAF0F6"/>
                    </a:solidFill>
                  </a:tcPr>
                </a:tc>
              </a:tr>
              <a:tr h="619125">
                <a:tc>
                  <a:txBody>
                    <a:bodyPr wrap="square"/>
                    <a:lstStyle/>
                    <a:p>
                      <a:pPr>
                        <a:lnSpc>
                          <a:spcPct val="110000"/>
                        </a:lnSpc>
                        <a:spcAft>
                          <a:spcPts val="200"/>
                        </a:spcAft>
                      </a:pPr>
                      <a:r>
                        <a:rPr sz="1019" b="0">
                          <a:solidFill>
                            <a:srgbClr val="13294B"/>
                          </a:solidFill>
                          <a:latin typeface="Arial"/>
                        </a:rPr>
                        <a:t>Weeks 9–10 (Dec 1–15)</a:t>
                      </a:r>
                    </a:p>
                  </a:txBody>
                  <a:tcPr marL="91440" marR="91440" marT="45720" marB="45720">
                    <a:lnL w="9525">
                      <a:solidFill>
                        <a:srgbClr val="D6DCE5"/>
                      </a:solidFill>
                      <a:prstDash val="solid"/>
                    </a:lnL>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19" b="0">
                          <a:solidFill>
                            <a:srgbClr val="13294B"/>
                          </a:solidFill>
                          <a:latin typeface="Arial"/>
                        </a:rPr>
                        <a:t>Open-Source Defense Toolkit &amp; Paper</a:t>
                      </a:r>
                    </a:p>
                  </a:txBody>
                  <a:tcPr marL="91440" marR="91440" marT="45720" marB="45720">
                    <a:lnR w="9525">
                      <a:solidFill>
                        <a:srgbClr val="D6DCE5"/>
                      </a:solidFill>
                      <a:prstDash val="solid"/>
                    </a:lnR>
                    <a:lnB w="9525">
                      <a:solidFill>
                        <a:srgbClr val="D6DCE5"/>
                      </a:solidFill>
                      <a:prstDash val="solid"/>
                    </a:lnB>
                    <a:solidFill>
                      <a:srgbClr val="FFFFFF"/>
                    </a:solidFill>
                  </a:tcPr>
                </a:tc>
                <a:tc>
                  <a:txBody>
                    <a:bodyPr wrap="square"/>
                    <a:lstStyle/>
                    <a:p>
                      <a:pPr>
                        <a:lnSpc>
                          <a:spcPct val="110000"/>
                        </a:lnSpc>
                        <a:spcAft>
                          <a:spcPts val="200"/>
                        </a:spcAft>
                      </a:pPr>
                      <a:r>
                        <a:rPr sz="1019" b="0">
                          <a:solidFill>
                            <a:srgbClr val="13294B"/>
                          </a:solidFill>
                          <a:latin typeface="Arial"/>
                        </a:rPr>
                        <a:t>Release modular sleeper detection library, reproducible benchmark artifacts, and submit fellowship final report / preprint.</a:t>
                      </a:r>
                    </a:p>
                  </a:txBody>
                  <a:tcPr marL="91440" marR="91440" marT="45720" marB="45720">
                    <a:lnR w="9525">
                      <a:solidFill>
                        <a:srgbClr val="D6DCE5"/>
                      </a:solidFill>
                      <a:prstDash val="solid"/>
                    </a:lnR>
                    <a:lnB w="9525">
                      <a:solidFill>
                        <a:srgbClr val="D6DCE5"/>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033F838-712A-4233-B82E-DC6E7617149D}"/>
              </a:ext>
            </a:extLst>
          </p:cNvPr>
          <p:cNvSpPr>
            <a:spLocks xmlns:a="http://schemas.openxmlformats.org/drawingml/2006/main" noGrp="1"/>
          </p:cNvSpPr>
          <p:nvPr/>
        </p:nvSpPr>
        <p:spPr>
          <a:xfrm xmlns:a="http://schemas.openxmlformats.org/drawingml/2006/main">
            <a:off x="609600" y="56007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1725" b="0">
                <a:solidFill>
                  <a:srgbClr val="13294B"/>
                </a:solidFill>
                <a:latin typeface="Arial"/>
                <a:ea typeface="Arial"/>
                <a:cs typeface="Arial"/>
              </a:defRPr>
            </a:defPPr>
            <a:lvl1pPr>
              <a:defRPr sz="1725" b="0">
                <a:solidFill>
                  <a:srgbClr val="13294B"/>
                </a:solidFill>
                <a:latin typeface="Arial"/>
                <a:ea typeface="Arial"/>
                <a:cs typeface="Arial"/>
              </a:defRPr>
            </a:lvl1pPr>
            <a:lvl2pPr>
              <a:defRPr sz="1725" b="0">
                <a:solidFill>
                  <a:srgbClr val="13294B"/>
                </a:solidFill>
                <a:latin typeface="Arial"/>
                <a:ea typeface="Arial"/>
                <a:cs typeface="Arial"/>
              </a:defRPr>
            </a:lvl2pPr>
            <a:lvl3pPr>
              <a:defRPr sz="1725" b="0">
                <a:solidFill>
                  <a:srgbClr val="13294B"/>
                </a:solidFill>
                <a:latin typeface="Arial"/>
                <a:ea typeface="Arial"/>
                <a:cs typeface="Arial"/>
              </a:defRPr>
            </a:lvl3pPr>
            <a:lvl4pPr>
              <a:defRPr sz="1725" b="0">
                <a:solidFill>
                  <a:srgbClr val="13294B"/>
                </a:solidFill>
                <a:latin typeface="Arial"/>
                <a:ea typeface="Arial"/>
                <a:cs typeface="Arial"/>
              </a:defRPr>
            </a:lvl4pPr>
            <a:lvl5pPr>
              <a:defRPr sz="1725" b="0">
                <a:solidFill>
                  <a:srgbClr val="13294B"/>
                </a:solidFill>
                <a:latin typeface="Arial"/>
                <a:ea typeface="Arial"/>
                <a:cs typeface="Arial"/>
              </a:defRPr>
            </a:lvl5pPr>
            <a:lvl6pPr>
              <a:defRPr sz="1725" b="0">
                <a:solidFill>
                  <a:srgbClr val="13294B"/>
                </a:solidFill>
                <a:latin typeface="Arial"/>
                <a:ea typeface="Arial"/>
                <a:cs typeface="Arial"/>
              </a:defRPr>
            </a:lvl6pPr>
            <a:lvl7pPr>
              <a:defRPr sz="1725" b="0">
                <a:solidFill>
                  <a:srgbClr val="13294B"/>
                </a:solidFill>
                <a:latin typeface="Arial"/>
                <a:ea typeface="Arial"/>
                <a:cs typeface="Arial"/>
              </a:defRPr>
            </a:lvl7pPr>
            <a:lvl8pPr>
              <a:defRPr sz="1725" b="0">
                <a:solidFill>
                  <a:srgbClr val="13294B"/>
                </a:solidFill>
                <a:latin typeface="Arial"/>
                <a:ea typeface="Arial"/>
                <a:cs typeface="Arial"/>
              </a:defRPr>
            </a:lvl8pPr>
            <a:lvl9pPr>
              <a:defRPr sz="1725" b="0">
                <a:solidFill>
                  <a:srgbClr val="13294B"/>
                </a:solidFill>
                <a:latin typeface="Arial"/>
                <a:ea typeface="Arial"/>
                <a:cs typeface="Arial"/>
              </a:defRPr>
            </a:lvl9pPr>
          </a:lstStyle>
          <a:p xmlns:a="http://schemas.openxmlformats.org/drawingml/2006/main">
            <a:pPr>
              <a:lnSpc>
                <a:spcPct val="115000"/>
              </a:lnSpc>
              <a:spcAft>
                <a:spcPts val="200"/>
              </a:spcAft>
            </a:pPr>
            <a:r>
              <a:rPr sz="1400" b="0">
                <a:solidFill>
                  <a:srgbClr val="13294B"/>
                </a:solidFill>
                <a:latin typeface="Arial"/>
              </a:rPr>
              <a:t>DELIVERABLES  /  Preprint for ICLR/SafeAI Workshop  ·  Open-source detection toolkit on GitHub  ·  Interactive demo</a:t>
            </a:r>
          </a:p>
        </p:txBody>
      </p:sp>
    </p:spTree>
    <p:extLst>
      <p:ext uri="{BB962C8B-B14F-4D97-AF65-F5344CB8AC3E}">
        <p14:creationId xmlns:p14="http://schemas.microsoft.com/office/powerpoint/2010/main" val="492557315"/>
      </p:ext>
    </p:extLst>
  </p:cSld>
</p:sld>
</file>

<file path=ppt/slides/slide11.xml><?xml version="1.0" encoding="utf-8"?>
<p:sld xmlns:p="http://schemas.openxmlformats.org/presentationml/2006/main">
  <p:cSld>
    <p:bg>
      <p:bgPr>
        <a:solidFill xmlns:a="http://schemas.openxmlformats.org/drawingml/2006/main">
          <a:srgbClr val="13294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9A9616-D418-41B8-8C53-6E34331753C7}"/>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FFFF"/>
                </a:solidFill>
                <a:latin typeface="Courier New"/>
                <a:ea typeface="Courier New"/>
                <a:cs typeface="Courier New"/>
              </a:defRPr>
            </a:defPPr>
            <a:lvl1pPr>
              <a:defRPr sz="1200" b="1">
                <a:solidFill>
                  <a:srgbClr val="FFFFFF"/>
                </a:solidFill>
                <a:latin typeface="Courier New"/>
                <a:ea typeface="Courier New"/>
                <a:cs typeface="Courier New"/>
              </a:defRPr>
            </a:lvl1pPr>
            <a:lvl2pPr>
              <a:defRPr sz="1200" b="1">
                <a:solidFill>
                  <a:srgbClr val="FFFFFF"/>
                </a:solidFill>
                <a:latin typeface="Courier New"/>
                <a:ea typeface="Courier New"/>
                <a:cs typeface="Courier New"/>
              </a:defRPr>
            </a:lvl2pPr>
            <a:lvl3pPr>
              <a:defRPr sz="1200" b="1">
                <a:solidFill>
                  <a:srgbClr val="FFFFFF"/>
                </a:solidFill>
                <a:latin typeface="Courier New"/>
                <a:ea typeface="Courier New"/>
                <a:cs typeface="Courier New"/>
              </a:defRPr>
            </a:lvl3pPr>
            <a:lvl4pPr>
              <a:defRPr sz="1200" b="1">
                <a:solidFill>
                  <a:srgbClr val="FFFFFF"/>
                </a:solidFill>
                <a:latin typeface="Courier New"/>
                <a:ea typeface="Courier New"/>
                <a:cs typeface="Courier New"/>
              </a:defRPr>
            </a:lvl4pPr>
            <a:lvl5pPr>
              <a:defRPr sz="1200" b="1">
                <a:solidFill>
                  <a:srgbClr val="FFFFFF"/>
                </a:solidFill>
                <a:latin typeface="Courier New"/>
                <a:ea typeface="Courier New"/>
                <a:cs typeface="Courier New"/>
              </a:defRPr>
            </a:lvl5pPr>
            <a:lvl6pPr>
              <a:defRPr sz="1200" b="1">
                <a:solidFill>
                  <a:srgbClr val="FFFFFF"/>
                </a:solidFill>
                <a:latin typeface="Courier New"/>
                <a:ea typeface="Courier New"/>
                <a:cs typeface="Courier New"/>
              </a:defRPr>
            </a:lvl6pPr>
            <a:lvl7pPr>
              <a:defRPr sz="1200" b="1">
                <a:solidFill>
                  <a:srgbClr val="FFFFFF"/>
                </a:solidFill>
                <a:latin typeface="Courier New"/>
                <a:ea typeface="Courier New"/>
                <a:cs typeface="Courier New"/>
              </a:defRPr>
            </a:lvl7pPr>
            <a:lvl8pPr>
              <a:defRPr sz="1200" b="1">
                <a:solidFill>
                  <a:srgbClr val="FFFFFF"/>
                </a:solidFill>
                <a:latin typeface="Courier New"/>
                <a:ea typeface="Courier New"/>
                <a:cs typeface="Courier New"/>
              </a:defRPr>
            </a:lvl8pPr>
            <a:lvl9pPr>
              <a:defRPr sz="1200" b="1">
                <a:solidFill>
                  <a:srgbClr val="FFFFFF"/>
                </a:solidFill>
                <a:latin typeface="Courier New"/>
                <a:ea typeface="Courier New"/>
                <a:cs typeface="Courier New"/>
              </a:defRPr>
            </a:lvl9pPr>
          </a:lstStyle>
          <a:p xmlns:a="http://schemas.openxmlformats.org/drawingml/2006/main">
            <a:pPr>
              <a:defRPr sz="1200" b="1">
                <a:solidFill>
                  <a:srgbClr val="FFFFFF"/>
                </a:solidFill>
                <a:latin typeface="Courier New"/>
                <a:ea typeface="Courier New"/>
                <a:cs typeface="Courier New"/>
              </a:defRPr>
            </a:pPr>
            <a:r>
              <a:rPr sz="1200" b="1">
                <a:solidFill>
                  <a:srgbClr val="FFFFFF"/>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EC1F7BB9-BB70-4CE5-AEBA-FAF6E3B3808F}"/>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DISCUSSION</a:t>
            </a:r>
          </a:p>
        </p:txBody>
      </p:sp>
      <p:sp>
        <p:nvSpPr>
          <p:cNvPr id="3" name="">
            <a:extLst xmlns:a="http://schemas.openxmlformats.org/drawingml/2006/main">
              <a:ext uri="{FF2B5EF4-FFF2-40B4-BE49-F238E27FC236}">
                <a16:creationId xmlns:a16="http://schemas.microsoft.com/office/drawing/2014/main" id="{6600F00D-E034-4542-A975-9EFA06C8D02D}"/>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FFFFFF"/>
                </a:solidFill>
                <a:latin typeface="Arial"/>
                <a:ea typeface="Arial"/>
                <a:cs typeface="Arial"/>
              </a:defRPr>
            </a:defPPr>
            <a:lvl1pPr>
              <a:defRPr sz="3750" b="1">
                <a:solidFill>
                  <a:srgbClr val="FFFFFF"/>
                </a:solidFill>
                <a:latin typeface="Arial"/>
                <a:ea typeface="Arial"/>
                <a:cs typeface="Arial"/>
              </a:defRPr>
            </a:lvl1pPr>
            <a:lvl2pPr>
              <a:defRPr sz="3750" b="1">
                <a:solidFill>
                  <a:srgbClr val="FFFFFF"/>
                </a:solidFill>
                <a:latin typeface="Arial"/>
                <a:ea typeface="Arial"/>
                <a:cs typeface="Arial"/>
              </a:defRPr>
            </a:lvl2pPr>
            <a:lvl3pPr>
              <a:defRPr sz="3750" b="1">
                <a:solidFill>
                  <a:srgbClr val="FFFFFF"/>
                </a:solidFill>
                <a:latin typeface="Arial"/>
                <a:ea typeface="Arial"/>
                <a:cs typeface="Arial"/>
              </a:defRPr>
            </a:lvl3pPr>
            <a:lvl4pPr>
              <a:defRPr sz="3750" b="1">
                <a:solidFill>
                  <a:srgbClr val="FFFFFF"/>
                </a:solidFill>
                <a:latin typeface="Arial"/>
                <a:ea typeface="Arial"/>
                <a:cs typeface="Arial"/>
              </a:defRPr>
            </a:lvl4pPr>
            <a:lvl5pPr>
              <a:defRPr sz="3750" b="1">
                <a:solidFill>
                  <a:srgbClr val="FFFFFF"/>
                </a:solidFill>
                <a:latin typeface="Arial"/>
                <a:ea typeface="Arial"/>
                <a:cs typeface="Arial"/>
              </a:defRPr>
            </a:lvl5pPr>
            <a:lvl6pPr>
              <a:defRPr sz="3750" b="1">
                <a:solidFill>
                  <a:srgbClr val="FFFFFF"/>
                </a:solidFill>
                <a:latin typeface="Arial"/>
                <a:ea typeface="Arial"/>
                <a:cs typeface="Arial"/>
              </a:defRPr>
            </a:lvl6pPr>
            <a:lvl7pPr>
              <a:defRPr sz="3750" b="1">
                <a:solidFill>
                  <a:srgbClr val="FFFFFF"/>
                </a:solidFill>
                <a:latin typeface="Arial"/>
                <a:ea typeface="Arial"/>
                <a:cs typeface="Arial"/>
              </a:defRPr>
            </a:lvl7pPr>
            <a:lvl8pPr>
              <a:defRPr sz="3750" b="1">
                <a:solidFill>
                  <a:srgbClr val="FFFFFF"/>
                </a:solidFill>
                <a:latin typeface="Arial"/>
                <a:ea typeface="Arial"/>
                <a:cs typeface="Arial"/>
              </a:defRPr>
            </a:lvl8pPr>
            <a:lvl9pPr>
              <a:defRPr sz="3750" b="1">
                <a:solidFill>
                  <a:srgbClr val="FFFFFF"/>
                </a:solidFill>
                <a:latin typeface="Arial"/>
                <a:ea typeface="Arial"/>
                <a:cs typeface="Arial"/>
              </a:defRPr>
            </a:lvl9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Feedback that would help</a:t>
            </a:r>
          </a:p>
        </p:txBody>
      </p:sp>
      <p:sp>
        <p:nvSpPr>
          <p:cNvPr id="4" name="">
            <a:extLst xmlns:a="http://schemas.openxmlformats.org/drawingml/2006/main">
              <a:ext uri="{FF2B5EF4-FFF2-40B4-BE49-F238E27FC236}">
                <a16:creationId xmlns:a16="http://schemas.microsoft.com/office/drawing/2014/main" id="{D07C5DF3-2CC4-44D6-BCA9-1104B8108DD1}"/>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6C7C6"/>
                </a:solidFill>
                <a:latin typeface="Courier New"/>
                <a:ea typeface="Courier New"/>
                <a:cs typeface="Courier New"/>
              </a:defRPr>
            </a:defPPr>
            <a:lvl1pPr>
              <a:defRPr sz="975" b="0">
                <a:solidFill>
                  <a:srgbClr val="C6C7C6"/>
                </a:solidFill>
                <a:latin typeface="Courier New"/>
                <a:ea typeface="Courier New"/>
                <a:cs typeface="Courier New"/>
              </a:defRPr>
            </a:lvl1pPr>
            <a:lvl2pPr>
              <a:defRPr sz="975" b="0">
                <a:solidFill>
                  <a:srgbClr val="C6C7C6"/>
                </a:solidFill>
                <a:latin typeface="Courier New"/>
                <a:ea typeface="Courier New"/>
                <a:cs typeface="Courier New"/>
              </a:defRPr>
            </a:lvl2pPr>
            <a:lvl3pPr>
              <a:defRPr sz="975" b="0">
                <a:solidFill>
                  <a:srgbClr val="C6C7C6"/>
                </a:solidFill>
                <a:latin typeface="Courier New"/>
                <a:ea typeface="Courier New"/>
                <a:cs typeface="Courier New"/>
              </a:defRPr>
            </a:lvl3pPr>
            <a:lvl4pPr>
              <a:defRPr sz="975" b="0">
                <a:solidFill>
                  <a:srgbClr val="C6C7C6"/>
                </a:solidFill>
                <a:latin typeface="Courier New"/>
                <a:ea typeface="Courier New"/>
                <a:cs typeface="Courier New"/>
              </a:defRPr>
            </a:lvl4pPr>
            <a:lvl5pPr>
              <a:defRPr sz="975" b="0">
                <a:solidFill>
                  <a:srgbClr val="C6C7C6"/>
                </a:solidFill>
                <a:latin typeface="Courier New"/>
                <a:ea typeface="Courier New"/>
                <a:cs typeface="Courier New"/>
              </a:defRPr>
            </a:lvl5pPr>
            <a:lvl6pPr>
              <a:defRPr sz="975" b="0">
                <a:solidFill>
                  <a:srgbClr val="C6C7C6"/>
                </a:solidFill>
                <a:latin typeface="Courier New"/>
                <a:ea typeface="Courier New"/>
                <a:cs typeface="Courier New"/>
              </a:defRPr>
            </a:lvl6pPr>
            <a:lvl7pPr>
              <a:defRPr sz="975" b="0">
                <a:solidFill>
                  <a:srgbClr val="C6C7C6"/>
                </a:solidFill>
                <a:latin typeface="Courier New"/>
                <a:ea typeface="Courier New"/>
                <a:cs typeface="Courier New"/>
              </a:defRPr>
            </a:lvl7pPr>
            <a:lvl8pPr>
              <a:defRPr sz="975" b="0">
                <a:solidFill>
                  <a:srgbClr val="C6C7C6"/>
                </a:solidFill>
                <a:latin typeface="Courier New"/>
                <a:ea typeface="Courier New"/>
                <a:cs typeface="Courier New"/>
              </a:defRPr>
            </a:lvl8pPr>
            <a:lvl9pPr>
              <a:defRPr sz="975" b="0">
                <a:solidFill>
                  <a:srgbClr val="C6C7C6"/>
                </a:solidFill>
                <a:latin typeface="Courier New"/>
                <a:ea typeface="Courier New"/>
                <a:cs typeface="Courier New"/>
              </a:defRPr>
            </a:lvl9pPr>
          </a:lstStyle>
          <a:p xmlns:a="http://schemas.openxmlformats.org/drawingml/2006/main">
            <a:pPr>
              <a:defRPr sz="975" b="0">
                <a:solidFill>
                  <a:srgbClr val="C6C7C6"/>
                </a:solidFill>
                <a:latin typeface="Courier New"/>
                <a:ea typeface="Courier New"/>
                <a:cs typeface="Courier New"/>
              </a:defRPr>
            </a:pPr>
            <a:r>
              <a:rPr sz="975">
                <a:solidFill>
                  <a:srgbClr val="C6C7C6"/>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675327D5-1478-43A7-BFCC-2BF278D298FE}"/>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11</a:t>
            </a:r>
          </a:p>
        </p:txBody>
      </p:sp>
      <p:sp>
        <p:nvSpPr>
          <p:cNvPr id="6" name="">
            <a:extLst xmlns:a="http://schemas.openxmlformats.org/drawingml/2006/main">
              <a:ext uri="{FF2B5EF4-FFF2-40B4-BE49-F238E27FC236}">
                <a16:creationId xmlns:a16="http://schemas.microsoft.com/office/drawing/2014/main" id="{E2754494-CF70-48F4-B76C-D8B5FFD0A046}"/>
              </a:ext>
            </a:extLst>
          </p:cNvPr>
          <p:cNvSpPr>
            <a:spLocks xmlns:a="http://schemas.openxmlformats.org/drawingml/2006/main" noGrp="1"/>
          </p:cNvSpPr>
          <p:nvPr/>
        </p:nvSpPr>
        <p:spPr>
          <a:xfrm xmlns:a="http://schemas.openxmlformats.org/drawingml/2006/main">
            <a:off x="609600" y="2714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01 / RESEARCH DIRECTION</a:t>
            </a:r>
          </a:p>
        </p:txBody>
      </p:sp>
      <p:sp>
        <p:nvSpPr>
          <p:cNvPr id="7" name="">
            <a:extLst xmlns:a="http://schemas.openxmlformats.org/drawingml/2006/main">
              <a:ext uri="{FF2B5EF4-FFF2-40B4-BE49-F238E27FC236}">
                <a16:creationId xmlns:a16="http://schemas.microsoft.com/office/drawing/2014/main" id="{5DD2909F-F46C-4FEF-B2D3-76F1615BDB9D}"/>
              </a:ext>
            </a:extLst>
          </p:cNvPr>
          <p:cNvSpPr>
            <a:spLocks xmlns:a="http://schemas.openxmlformats.org/drawingml/2006/main" noGrp="1"/>
          </p:cNvSpPr>
          <p:nvPr/>
        </p:nvSpPr>
        <p:spPr>
          <a:xfrm xmlns:a="http://schemas.openxmlformats.org/drawingml/2006/main">
            <a:off x="609600" y="317182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lnSpc>
                <a:spcPct val="115000"/>
              </a:lnSpc>
              <a:spcAft>
                <a:spcPts val="200"/>
              </a:spcAft>
            </a:pPr>
            <a:r>
              <a:rPr sz="1300" b="0">
                <a:solidFill>
                  <a:srgbClr val="FFFFFF"/>
                </a:solidFill>
                <a:latin typeface="Arial"/>
              </a:rPr>
              <a:t>Should we position the final artifact primarily as a defense mechanism (zero-latency line-rate runtime monitor beating external LLM guards) or as a mechanistic discovery paper (MoE routing bifurcation and executive subspace geometry)?</a:t>
            </a:r>
          </a:p>
        </p:txBody>
      </p:sp>
      <p:sp>
        <p:nvSpPr>
          <p:cNvPr id="8" name="">
            <a:extLst xmlns:a="http://schemas.openxmlformats.org/drawingml/2006/main">
              <a:ext uri="{FF2B5EF4-FFF2-40B4-BE49-F238E27FC236}">
                <a16:creationId xmlns:a16="http://schemas.microsoft.com/office/drawing/2014/main" id="{3A687E6D-D935-4D5F-B0B8-7C27ED275D81}"/>
              </a:ext>
            </a:extLst>
          </p:cNvPr>
          <p:cNvSpPr>
            <a:spLocks xmlns:a="http://schemas.openxmlformats.org/drawingml/2006/main" noGrp="1"/>
          </p:cNvSpPr>
          <p:nvPr/>
        </p:nvSpPr>
        <p:spPr>
          <a:xfrm xmlns:a="http://schemas.openxmlformats.org/drawingml/2006/main">
            <a:off x="609600" y="3857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02 / EXPERIMENT DESIGN</a:t>
            </a:r>
          </a:p>
        </p:txBody>
      </p:sp>
      <p:sp>
        <p:nvSpPr>
          <p:cNvPr id="9" name="">
            <a:extLst xmlns:a="http://schemas.openxmlformats.org/drawingml/2006/main">
              <a:ext uri="{FF2B5EF4-FFF2-40B4-BE49-F238E27FC236}">
                <a16:creationId xmlns:a16="http://schemas.microsoft.com/office/drawing/2014/main" id="{EEF7E59D-3F39-40D5-8701-F3E7B4EB2896}"/>
              </a:ext>
            </a:extLst>
          </p:cNvPr>
          <p:cNvSpPr>
            <a:spLocks xmlns:a="http://schemas.openxmlformats.org/drawingml/2006/main" noGrp="1"/>
          </p:cNvSpPr>
          <p:nvPr/>
        </p:nvSpPr>
        <p:spPr>
          <a:xfrm xmlns:a="http://schemas.openxmlformats.org/drawingml/2006/main">
            <a:off x="609600" y="431482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lnSpc>
                <a:spcPct val="115000"/>
              </a:lnSpc>
              <a:spcAft>
                <a:spcPts val="200"/>
              </a:spcAft>
            </a:pPr>
            <a:r>
              <a:rPr sz="1300" b="0">
                <a:solidFill>
                  <a:srgbClr val="FFFFFF"/>
                </a:solidFill>
                <a:latin typeface="Arial"/>
              </a:rPr>
              <a:t>What standard of causal evidence is most compelling to the AI alignment community: directional projection clamping, activation path patching, or end-to-end steering rollouts?</a:t>
            </a:r>
          </a:p>
        </p:txBody>
      </p:sp>
      <p:sp>
        <p:nvSpPr>
          <p:cNvPr id="10" name="">
            <a:extLst xmlns:a="http://schemas.openxmlformats.org/drawingml/2006/main">
              <a:ext uri="{FF2B5EF4-FFF2-40B4-BE49-F238E27FC236}">
                <a16:creationId xmlns:a16="http://schemas.microsoft.com/office/drawing/2014/main" id="{817C1E41-0E9E-4572-81FB-516390150F1C}"/>
              </a:ext>
            </a:extLst>
          </p:cNvPr>
          <p:cNvSpPr>
            <a:spLocks xmlns:a="http://schemas.openxmlformats.org/drawingml/2006/main" noGrp="1"/>
          </p:cNvSpPr>
          <p:nvPr/>
        </p:nvSpPr>
        <p:spPr>
          <a:xfrm xmlns:a="http://schemas.openxmlformats.org/drawingml/2006/main">
            <a:off x="609600"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03 / SUPPORT NEEDED</a:t>
            </a:r>
          </a:p>
        </p:txBody>
      </p:sp>
      <p:sp>
        <p:nvSpPr>
          <p:cNvPr id="11" name="">
            <a:extLst xmlns:a="http://schemas.openxmlformats.org/drawingml/2006/main">
              <a:ext uri="{FF2B5EF4-FFF2-40B4-BE49-F238E27FC236}">
                <a16:creationId xmlns:a16="http://schemas.microsoft.com/office/drawing/2014/main" id="{C0285015-CB03-4E49-9BEE-3EDDDBB6CC41}"/>
              </a:ext>
            </a:extLst>
          </p:cNvPr>
          <p:cNvSpPr>
            <a:spLocks xmlns:a="http://schemas.openxmlformats.org/drawingml/2006/main" noGrp="1"/>
          </p:cNvSpPr>
          <p:nvPr/>
        </p:nvSpPr>
        <p:spPr>
          <a:xfrm xmlns:a="http://schemas.openxmlformats.org/drawingml/2006/main">
            <a:off x="609600" y="545782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lnSpc>
                <a:spcPct val="115000"/>
              </a:lnSpc>
              <a:spcAft>
                <a:spcPts val="200"/>
              </a:spcAft>
            </a:pPr>
            <a:r>
              <a:rPr sz="1300" b="0">
                <a:solidFill>
                  <a:srgbClr val="FFFFFF"/>
                </a:solidFill>
                <a:latin typeface="Arial"/>
              </a:rPr>
              <a:t>Access to multi-A100/H100 GPU compute nodes to extract layerwise activations and run causal interventions on 70B+ open models (Llama-3-70B, Qwen-2.5-72B) during Weeks 7–8.</a:t>
            </a:r>
          </a:p>
        </p:txBody>
      </p:sp>
    </p:spTree>
    <p:extLst>
      <p:ext uri="{BB962C8B-B14F-4D97-AF65-F5344CB8AC3E}">
        <p14:creationId xmlns:p14="http://schemas.microsoft.com/office/powerpoint/2010/main" val="256074628"/>
      </p:ext>
    </p:extLst>
  </p:cSld>
</p:sld>
</file>

<file path=ppt/slides/slide12.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D2A52A-03D6-40F3-AFDF-C2136C688D45}"/>
              </a:ext>
            </a:extLst>
          </p:cNvPr>
          <p:cNvSpPr>
            <a:spLocks xmlns:a="http://schemas.openxmlformats.org/drawingml/2006/main" noGrp="1"/>
          </p:cNvSpPr>
          <p:nvPr/>
        </p:nvSpPr>
        <p:spPr>
          <a:xfrm xmlns:a="http://schemas.openxmlformats.org/drawingml/2006/main">
            <a:off x="609600" y="2857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13294B"/>
                </a:solidFill>
                <a:latin typeface="Courier New"/>
                <a:ea typeface="Courier New"/>
                <a:cs typeface="Courier New"/>
              </a:defRPr>
            </a:defPPr>
            <a:lvl1pPr>
              <a:defRPr sz="1200" b="1">
                <a:solidFill>
                  <a:srgbClr val="13294B"/>
                </a:solidFill>
                <a:latin typeface="Courier New"/>
                <a:ea typeface="Courier New"/>
                <a:cs typeface="Courier New"/>
              </a:defRPr>
            </a:lvl1pPr>
            <a:lvl2pPr>
              <a:defRPr sz="1200" b="1">
                <a:solidFill>
                  <a:srgbClr val="13294B"/>
                </a:solidFill>
                <a:latin typeface="Courier New"/>
                <a:ea typeface="Courier New"/>
                <a:cs typeface="Courier New"/>
              </a:defRPr>
            </a:lvl2pPr>
            <a:lvl3pPr>
              <a:defRPr sz="1200" b="1">
                <a:solidFill>
                  <a:srgbClr val="13294B"/>
                </a:solidFill>
                <a:latin typeface="Courier New"/>
                <a:ea typeface="Courier New"/>
                <a:cs typeface="Courier New"/>
              </a:defRPr>
            </a:lvl3pPr>
            <a:lvl4pPr>
              <a:defRPr sz="1200" b="1">
                <a:solidFill>
                  <a:srgbClr val="13294B"/>
                </a:solidFill>
                <a:latin typeface="Courier New"/>
                <a:ea typeface="Courier New"/>
                <a:cs typeface="Courier New"/>
              </a:defRPr>
            </a:lvl4pPr>
            <a:lvl5pPr>
              <a:defRPr sz="1200" b="1">
                <a:solidFill>
                  <a:srgbClr val="13294B"/>
                </a:solidFill>
                <a:latin typeface="Courier New"/>
                <a:ea typeface="Courier New"/>
                <a:cs typeface="Courier New"/>
              </a:defRPr>
            </a:lvl5pPr>
            <a:lvl6pPr>
              <a:defRPr sz="1200" b="1">
                <a:solidFill>
                  <a:srgbClr val="13294B"/>
                </a:solidFill>
                <a:latin typeface="Courier New"/>
                <a:ea typeface="Courier New"/>
                <a:cs typeface="Courier New"/>
              </a:defRPr>
            </a:lvl6pPr>
            <a:lvl7pPr>
              <a:defRPr sz="1200" b="1">
                <a:solidFill>
                  <a:srgbClr val="13294B"/>
                </a:solidFill>
                <a:latin typeface="Courier New"/>
                <a:ea typeface="Courier New"/>
                <a:cs typeface="Courier New"/>
              </a:defRPr>
            </a:lvl7pPr>
            <a:lvl8pPr>
              <a:defRPr sz="1200" b="1">
                <a:solidFill>
                  <a:srgbClr val="13294B"/>
                </a:solidFill>
                <a:latin typeface="Courier New"/>
                <a:ea typeface="Courier New"/>
                <a:cs typeface="Courier New"/>
              </a:defRPr>
            </a:lvl8pPr>
            <a:lvl9pPr>
              <a:defRPr sz="1200" b="1">
                <a:solidFill>
                  <a:srgbClr val="13294B"/>
                </a:solidFill>
                <a:latin typeface="Courier New"/>
                <a:ea typeface="Courier New"/>
                <a:cs typeface="Courier New"/>
              </a:defRPr>
            </a:lvl9pPr>
          </a:lstStyle>
          <a:p xmlns:a="http://schemas.openxmlformats.org/drawingml/2006/main">
            <a:pPr>
              <a:defRPr sz="1200" b="1">
                <a:solidFill>
                  <a:srgbClr val="13294B"/>
                </a:solidFill>
                <a:latin typeface="Courier New"/>
                <a:ea typeface="Courier New"/>
                <a:cs typeface="Courier New"/>
              </a:defRPr>
            </a:pPr>
            <a:r>
              <a:rPr sz="1200" b="1">
                <a:solidFill>
                  <a:srgbClr val="13294B"/>
                </a:solidFill>
                <a:latin typeface="Courier New"/>
                <a:ea typeface="Courier New"/>
                <a:cs typeface="Courier New"/>
              </a:rPr>
              <a:t>AI ALIGNMENT @ ILLINOIS</a:t>
            </a:r>
          </a:p>
        </p:txBody>
      </p:sp>
      <p:sp>
        <p:nvSpPr>
          <p:cNvPr id="2" name="">
            <a:extLst xmlns:a="http://schemas.openxmlformats.org/drawingml/2006/main">
              <a:ext uri="{FF2B5EF4-FFF2-40B4-BE49-F238E27FC236}">
                <a16:creationId xmlns:a16="http://schemas.microsoft.com/office/drawing/2014/main" id="{FB255C1F-10BF-42EB-AC53-73AC4E3269F8}"/>
              </a:ext>
            </a:extLst>
          </p:cNvPr>
          <p:cNvSpPr>
            <a:spLocks xmlns:a="http://schemas.openxmlformats.org/drawingml/2006/main" noGrp="1"/>
          </p:cNvSpPr>
          <p:nvPr/>
        </p:nvSpPr>
        <p:spPr>
          <a:xfrm xmlns:a="http://schemas.openxmlformats.org/drawingml/2006/main">
            <a:off x="609600" y="923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APPENDIX  /  OPTIONAL</a:t>
            </a:r>
          </a:p>
        </p:txBody>
      </p:sp>
      <p:sp>
        <p:nvSpPr>
          <p:cNvPr id="3" name="">
            <a:extLst xmlns:a="http://schemas.openxmlformats.org/drawingml/2006/main">
              <a:ext uri="{FF2B5EF4-FFF2-40B4-BE49-F238E27FC236}">
                <a16:creationId xmlns:a16="http://schemas.microsoft.com/office/drawing/2014/main" id="{3F788976-E363-4E6E-9028-91B8A9470B2A}"/>
              </a:ext>
            </a:extLst>
          </p:cNvPr>
          <p:cNvSpPr>
            <a:spLocks xmlns:a="http://schemas.openxmlformats.org/drawingml/2006/main" noGrp="1"/>
          </p:cNvSpPr>
          <p:nvPr/>
        </p:nvSpPr>
        <p:spPr>
          <a:xfrm xmlns:a="http://schemas.openxmlformats.org/drawingml/2006/main">
            <a:off x="609600" y="13620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3750" b="1">
                <a:solidFill>
                  <a:srgbClr val="13294B"/>
                </a:solidFill>
                <a:latin typeface="Arial"/>
                <a:ea typeface="Arial"/>
                <a:cs typeface="Arial"/>
              </a:defRPr>
            </a:defPPr>
            <a:lvl1pPr>
              <a:defRPr sz="3750" b="1">
                <a:solidFill>
                  <a:srgbClr val="13294B"/>
                </a:solidFill>
                <a:latin typeface="Arial"/>
                <a:ea typeface="Arial"/>
                <a:cs typeface="Arial"/>
              </a:defRPr>
            </a:lvl1pPr>
            <a:lvl2pPr>
              <a:defRPr sz="3750" b="1">
                <a:solidFill>
                  <a:srgbClr val="13294B"/>
                </a:solidFill>
                <a:latin typeface="Arial"/>
                <a:ea typeface="Arial"/>
                <a:cs typeface="Arial"/>
              </a:defRPr>
            </a:lvl2pPr>
            <a:lvl3pPr>
              <a:defRPr sz="3750" b="1">
                <a:solidFill>
                  <a:srgbClr val="13294B"/>
                </a:solidFill>
                <a:latin typeface="Arial"/>
                <a:ea typeface="Arial"/>
                <a:cs typeface="Arial"/>
              </a:defRPr>
            </a:lvl3pPr>
            <a:lvl4pPr>
              <a:defRPr sz="3750" b="1">
                <a:solidFill>
                  <a:srgbClr val="13294B"/>
                </a:solidFill>
                <a:latin typeface="Arial"/>
                <a:ea typeface="Arial"/>
                <a:cs typeface="Arial"/>
              </a:defRPr>
            </a:lvl4pPr>
            <a:lvl5pPr>
              <a:defRPr sz="3750" b="1">
                <a:solidFill>
                  <a:srgbClr val="13294B"/>
                </a:solidFill>
                <a:latin typeface="Arial"/>
                <a:ea typeface="Arial"/>
                <a:cs typeface="Arial"/>
              </a:defRPr>
            </a:lvl5pPr>
            <a:lvl6pPr>
              <a:defRPr sz="3750" b="1">
                <a:solidFill>
                  <a:srgbClr val="13294B"/>
                </a:solidFill>
                <a:latin typeface="Arial"/>
                <a:ea typeface="Arial"/>
                <a:cs typeface="Arial"/>
              </a:defRPr>
            </a:lvl6pPr>
            <a:lvl7pPr>
              <a:defRPr sz="3750" b="1">
                <a:solidFill>
                  <a:srgbClr val="13294B"/>
                </a:solidFill>
                <a:latin typeface="Arial"/>
                <a:ea typeface="Arial"/>
                <a:cs typeface="Arial"/>
              </a:defRPr>
            </a:lvl7pPr>
            <a:lvl8pPr>
              <a:defRPr sz="3750" b="1">
                <a:solidFill>
                  <a:srgbClr val="13294B"/>
                </a:solidFill>
                <a:latin typeface="Arial"/>
                <a:ea typeface="Arial"/>
                <a:cs typeface="Arial"/>
              </a:defRPr>
            </a:lvl8pPr>
            <a:lvl9pPr>
              <a:defRPr sz="3750" b="1">
                <a:solidFill>
                  <a:srgbClr val="13294B"/>
                </a:solidFill>
                <a:latin typeface="Arial"/>
                <a:ea typeface="Arial"/>
                <a:cs typeface="Arial"/>
              </a:defRPr>
            </a:lvl9pPr>
          </a:lstStyle>
          <a:p xmlns:a="http://schemas.openxmlformats.org/drawingml/2006/main">
            <a:pPr>
              <a:lnSpc>
                <a:spcPct val="115000"/>
              </a:lnSpc>
              <a:spcAft>
                <a:spcPts val="300"/>
              </a:spcAft>
            </a:pPr>
            <a:r>
              <a:rPr sz="3000" b="1">
                <a:solidFill>
                  <a:srgbClr val="13294B"/>
                </a:solidFill>
                <a:latin typeface="Arial"/>
              </a:rPr>
              <a:t>Implementation &amp; Mechanistic Probing Setup</a:t>
            </a:r>
          </a:p>
        </p:txBody>
      </p:sp>
      <p:sp>
        <p:nvSpPr>
          <p:cNvPr id="4" name="">
            <a:extLst xmlns:a="http://schemas.openxmlformats.org/drawingml/2006/main">
              <a:ext uri="{FF2B5EF4-FFF2-40B4-BE49-F238E27FC236}">
                <a16:creationId xmlns:a16="http://schemas.microsoft.com/office/drawing/2014/main" id="{9B7F353B-CD62-4982-BCB6-F9B4BEB75B48}"/>
              </a:ext>
            </a:extLst>
          </p:cNvPr>
          <p:cNvSpPr>
            <a:spLocks xmlns:a="http://schemas.openxmlformats.org/drawingml/2006/main" noGrp="1"/>
          </p:cNvSpPr>
          <p:nvPr/>
        </p:nvSpPr>
        <p:spPr>
          <a:xfrm xmlns:a="http://schemas.openxmlformats.org/drawingml/2006/main">
            <a:off x="609600" y="63055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67758A"/>
                </a:solidFill>
                <a:latin typeface="Courier New"/>
                <a:ea typeface="Courier New"/>
                <a:cs typeface="Courier New"/>
              </a:defRPr>
            </a:defPPr>
            <a:lvl1pPr>
              <a:defRPr sz="975" b="0">
                <a:solidFill>
                  <a:srgbClr val="67758A"/>
                </a:solidFill>
                <a:latin typeface="Courier New"/>
                <a:ea typeface="Courier New"/>
                <a:cs typeface="Courier New"/>
              </a:defRPr>
            </a:lvl1pPr>
            <a:lvl2pPr>
              <a:defRPr sz="975" b="0">
                <a:solidFill>
                  <a:srgbClr val="67758A"/>
                </a:solidFill>
                <a:latin typeface="Courier New"/>
                <a:ea typeface="Courier New"/>
                <a:cs typeface="Courier New"/>
              </a:defRPr>
            </a:lvl2pPr>
            <a:lvl3pPr>
              <a:defRPr sz="975" b="0">
                <a:solidFill>
                  <a:srgbClr val="67758A"/>
                </a:solidFill>
                <a:latin typeface="Courier New"/>
                <a:ea typeface="Courier New"/>
                <a:cs typeface="Courier New"/>
              </a:defRPr>
            </a:lvl3pPr>
            <a:lvl4pPr>
              <a:defRPr sz="975" b="0">
                <a:solidFill>
                  <a:srgbClr val="67758A"/>
                </a:solidFill>
                <a:latin typeface="Courier New"/>
                <a:ea typeface="Courier New"/>
                <a:cs typeface="Courier New"/>
              </a:defRPr>
            </a:lvl4pPr>
            <a:lvl5pPr>
              <a:defRPr sz="975" b="0">
                <a:solidFill>
                  <a:srgbClr val="67758A"/>
                </a:solidFill>
                <a:latin typeface="Courier New"/>
                <a:ea typeface="Courier New"/>
                <a:cs typeface="Courier New"/>
              </a:defRPr>
            </a:lvl5pPr>
            <a:lvl6pPr>
              <a:defRPr sz="975" b="0">
                <a:solidFill>
                  <a:srgbClr val="67758A"/>
                </a:solidFill>
                <a:latin typeface="Courier New"/>
                <a:ea typeface="Courier New"/>
                <a:cs typeface="Courier New"/>
              </a:defRPr>
            </a:lvl6pPr>
            <a:lvl7pPr>
              <a:defRPr sz="975" b="0">
                <a:solidFill>
                  <a:srgbClr val="67758A"/>
                </a:solidFill>
                <a:latin typeface="Courier New"/>
                <a:ea typeface="Courier New"/>
                <a:cs typeface="Courier New"/>
              </a:defRPr>
            </a:lvl7pPr>
            <a:lvl8pPr>
              <a:defRPr sz="975" b="0">
                <a:solidFill>
                  <a:srgbClr val="67758A"/>
                </a:solidFill>
                <a:latin typeface="Courier New"/>
                <a:ea typeface="Courier New"/>
                <a:cs typeface="Courier New"/>
              </a:defRPr>
            </a:lvl8pPr>
            <a:lvl9pPr>
              <a:defRPr sz="975" b="0">
                <a:solidFill>
                  <a:srgbClr val="67758A"/>
                </a:solidFill>
                <a:latin typeface="Courier New"/>
                <a:ea typeface="Courier New"/>
                <a:cs typeface="Courier New"/>
              </a:defRPr>
            </a:lvl9pPr>
          </a:lstStyle>
          <a:p xmlns:a="http://schemas.openxmlformats.org/drawingml/2006/main">
            <a:pPr>
              <a:defRPr sz="975" b="0">
                <a:solidFill>
                  <a:srgbClr val="67758A"/>
                </a:solidFill>
                <a:latin typeface="Courier New"/>
                <a:ea typeface="Courier New"/>
                <a:cs typeface="Courier New"/>
              </a:defRPr>
            </a:pPr>
            <a:r>
              <a:rPr sz="975">
                <a:solidFill>
                  <a:srgbClr val="67758A"/>
                </a:solidFill>
                <a:latin typeface="Courier New"/>
              </a:rPr>
              <a:t>MIDPOINT CHECKPOINT  /  DORMANT SLEEPER DETECTION</a:t>
            </a:r>
          </a:p>
        </p:txBody>
      </p:sp>
      <p:sp>
        <p:nvSpPr>
          <p:cNvPr id="5" name="">
            <a:extLst xmlns:a="http://schemas.openxmlformats.org/drawingml/2006/main">
              <a:ext uri="{FF2B5EF4-FFF2-40B4-BE49-F238E27FC236}">
                <a16:creationId xmlns:a16="http://schemas.microsoft.com/office/drawing/2014/main" id="{1960CF22-280E-4E1B-A994-4AEA0B4005FF}"/>
              </a:ext>
            </a:extLst>
          </p:cNvPr>
          <p:cNvSpPr>
            <a:spLocks xmlns:a="http://schemas.openxmlformats.org/drawingml/2006/main" noGrp="1"/>
          </p:cNvSpPr>
          <p:nvPr/>
        </p:nvSpPr>
        <p:spPr>
          <a:xfrm xmlns:a="http://schemas.openxmlformats.org/drawingml/2006/main">
            <a:off x="11049000" y="62674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FF5F05"/>
                </a:solidFill>
                <a:latin typeface="Courier New"/>
                <a:ea typeface="Courier New"/>
                <a:cs typeface="Courier New"/>
              </a:defRPr>
            </a:defPPr>
            <a:lvl1pPr>
              <a:defRPr sz="1200" b="1">
                <a:solidFill>
                  <a:srgbClr val="FF5F05"/>
                </a:solidFill>
                <a:latin typeface="Courier New"/>
                <a:ea typeface="Courier New"/>
                <a:cs typeface="Courier New"/>
              </a:defRPr>
            </a:lvl1pPr>
            <a:lvl2pPr>
              <a:defRPr sz="1200" b="1">
                <a:solidFill>
                  <a:srgbClr val="FF5F05"/>
                </a:solidFill>
                <a:latin typeface="Courier New"/>
                <a:ea typeface="Courier New"/>
                <a:cs typeface="Courier New"/>
              </a:defRPr>
            </a:lvl2pPr>
            <a:lvl3pPr>
              <a:defRPr sz="1200" b="1">
                <a:solidFill>
                  <a:srgbClr val="FF5F05"/>
                </a:solidFill>
                <a:latin typeface="Courier New"/>
                <a:ea typeface="Courier New"/>
                <a:cs typeface="Courier New"/>
              </a:defRPr>
            </a:lvl3pPr>
            <a:lvl4pPr>
              <a:defRPr sz="1200" b="1">
                <a:solidFill>
                  <a:srgbClr val="FF5F05"/>
                </a:solidFill>
                <a:latin typeface="Courier New"/>
                <a:ea typeface="Courier New"/>
                <a:cs typeface="Courier New"/>
              </a:defRPr>
            </a:lvl4pPr>
            <a:lvl5pPr>
              <a:defRPr sz="1200" b="1">
                <a:solidFill>
                  <a:srgbClr val="FF5F05"/>
                </a:solidFill>
                <a:latin typeface="Courier New"/>
                <a:ea typeface="Courier New"/>
                <a:cs typeface="Courier New"/>
              </a:defRPr>
            </a:lvl5pPr>
            <a:lvl6pPr>
              <a:defRPr sz="1200" b="1">
                <a:solidFill>
                  <a:srgbClr val="FF5F05"/>
                </a:solidFill>
                <a:latin typeface="Courier New"/>
                <a:ea typeface="Courier New"/>
                <a:cs typeface="Courier New"/>
              </a:defRPr>
            </a:lvl6pPr>
            <a:lvl7pPr>
              <a:defRPr sz="1200" b="1">
                <a:solidFill>
                  <a:srgbClr val="FF5F05"/>
                </a:solidFill>
                <a:latin typeface="Courier New"/>
                <a:ea typeface="Courier New"/>
                <a:cs typeface="Courier New"/>
              </a:defRPr>
            </a:lvl7pPr>
            <a:lvl8pPr>
              <a:defRPr sz="1200" b="1">
                <a:solidFill>
                  <a:srgbClr val="FF5F05"/>
                </a:solidFill>
                <a:latin typeface="Courier New"/>
                <a:ea typeface="Courier New"/>
                <a:cs typeface="Courier New"/>
              </a:defRPr>
            </a:lvl8pPr>
            <a:lvl9pPr>
              <a:defRPr sz="1200" b="1">
                <a:solidFill>
                  <a:srgbClr val="FF5F05"/>
                </a:solidFill>
                <a:latin typeface="Courier New"/>
                <a:ea typeface="Courier New"/>
                <a:cs typeface="Courier New"/>
              </a:defRPr>
            </a:lvl9pPr>
          </a:lstStyle>
          <a:p xmlns:a="http://schemas.openxmlformats.org/drawingml/2006/main">
            <a:pPr>
              <a:defRPr sz="1200" b="1">
                <a:solidFill>
                  <a:srgbClr val="FF5F05"/>
                </a:solidFill>
                <a:latin typeface="Courier New"/>
                <a:ea typeface="Courier New"/>
                <a:cs typeface="Courier New"/>
              </a:defRPr>
            </a:pPr>
            <a:r>
              <a:rPr sz="1200" b="1">
                <a:solidFill>
                  <a:srgbClr val="FF5F05"/>
                </a:solidFill>
                <a:latin typeface="Courier New"/>
                <a:ea typeface="Courier New"/>
                <a:cs typeface="Courier New"/>
              </a:rPr>
              <a:t>12</a:t>
            </a:r>
          </a:p>
        </p:txBody>
      </p:sp>
      <p:sp>
        <p:nvSpPr>
          <p:cNvPr id="6" name="">
            <a:extLst xmlns:a="http://schemas.openxmlformats.org/drawingml/2006/main">
              <a:ext uri="{FF2B5EF4-FFF2-40B4-BE49-F238E27FC236}">
                <a16:creationId xmlns:a16="http://schemas.microsoft.com/office/drawing/2014/main" id="{1FF11299-BB5E-423C-9CF8-8AD481F75DDD}"/>
              </a:ext>
            </a:extLst>
          </p:cNvPr>
          <p:cNvSpPr>
            <a:spLocks xmlns:a="http://schemas.openxmlformats.org/drawingml/2006/main" noGrp="1"/>
          </p:cNvSpPr>
          <p:nvPr/>
        </p:nvSpPr>
        <p:spPr>
          <a:xfrm xmlns:a="http://schemas.openxmlformats.org/drawingml/2006/main">
            <a:off x="609600" y="26670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SETUP</a:t>
            </a:r>
          </a:p>
        </p:txBody>
      </p:sp>
      <p:sp>
        <p:nvSpPr>
          <p:cNvPr id="7" name="">
            <a:extLst xmlns:a="http://schemas.openxmlformats.org/drawingml/2006/main">
              <a:ext uri="{FF2B5EF4-FFF2-40B4-BE49-F238E27FC236}">
                <a16:creationId xmlns:a16="http://schemas.microsoft.com/office/drawing/2014/main" id="{7C2B4661-6DD1-4778-970E-822A950ECBF4}"/>
              </a:ext>
            </a:extLst>
          </p:cNvPr>
          <p:cNvSpPr>
            <a:spLocks xmlns:a="http://schemas.openxmlformats.org/drawingml/2006/main" noGrp="1"/>
          </p:cNvSpPr>
          <p:nvPr/>
        </p:nvSpPr>
        <p:spPr>
          <a:xfrm xmlns:a="http://schemas.openxmlformats.org/drawingml/2006/main">
            <a:off x="609600" y="3124200"/>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200"/>
              </a:spcAft>
            </a:pPr>
            <a:r>
              <a:rPr sz="1080" b="0">
                <a:solidFill>
                  <a:srgbClr val="13294B"/>
                </a:solidFill>
                <a:latin typeface="Arial"/>
              </a:rPr>
              <a:t>• Target Model: gpt-oss-20b (25 transformer layers, 32 MoE experts, top-4 routing, hidden dimension 2880).</a:t>
            </a:r>
          </a:p>
          <a:p xmlns:a="http://schemas.openxmlformats.org/drawingml/2006/main">
            <a:pPr>
              <a:lnSpc>
                <a:spcPct val="115000"/>
              </a:lnSpc>
              <a:spcAft>
                <a:spcPts val="200"/>
              </a:spcAft>
            </a:pPr>
            <a:r>
              <a:rPr sz="1080" b="0">
                <a:solidFill>
                  <a:srgbClr val="13294B"/>
                </a:solidFill>
                <a:latin typeface="Arial"/>
              </a:rPr>
              <a:t>• Inference Harness: Decoupled HuggingFace bfloat16 forward pass (interp/gptoss.py) matching vLLM chat rollout token IDs with 93–100% agreement.</a:t>
            </a:r>
          </a:p>
          <a:p xmlns:a="http://schemas.openxmlformats.org/drawingml/2006/main">
            <a:pPr>
              <a:lnSpc>
                <a:spcPct val="115000"/>
              </a:lnSpc>
              <a:spcAft>
                <a:spcPts val="200"/>
              </a:spcAft>
            </a:pPr>
            <a:r>
              <a:rPr sz="1080" b="0">
                <a:solidFill>
                  <a:srgbClr val="13294B"/>
                </a:solidFill>
                <a:latin typeface="Arial"/>
              </a:rPr>
              <a:t>• Probing Method: L2-regularized logistic regression on layerwise residual activations at memory_result_end, averaged across Layers 14–19.</a:t>
            </a:r>
          </a:p>
        </p:txBody>
      </p:sp>
      <p:sp>
        <p:nvSpPr>
          <p:cNvPr id="8" name="">
            <a:extLst xmlns:a="http://schemas.openxmlformats.org/drawingml/2006/main">
              <a:ext uri="{FF2B5EF4-FFF2-40B4-BE49-F238E27FC236}">
                <a16:creationId xmlns:a16="http://schemas.microsoft.com/office/drawing/2014/main" id="{FD2D6F58-44F3-4004-87D0-FE71ADD093DA}"/>
              </a:ext>
            </a:extLst>
          </p:cNvPr>
          <p:cNvSpPr>
            <a:spLocks xmlns:a="http://schemas.openxmlformats.org/drawingml/2006/main" noGrp="1"/>
          </p:cNvSpPr>
          <p:nvPr/>
        </p:nvSpPr>
        <p:spPr>
          <a:xfrm xmlns:a="http://schemas.openxmlformats.org/drawingml/2006/main">
            <a:off x="6381750" y="26670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EVIDENCE / REPRODUCIBILITY</a:t>
            </a:r>
          </a:p>
        </p:txBody>
      </p:sp>
      <p:sp>
        <p:nvSpPr>
          <p:cNvPr id="9" name="">
            <a:extLst xmlns:a="http://schemas.openxmlformats.org/drawingml/2006/main">
              <a:ext uri="{FF2B5EF4-FFF2-40B4-BE49-F238E27FC236}">
                <a16:creationId xmlns:a16="http://schemas.microsoft.com/office/drawing/2014/main" id="{2F7B2940-C46E-40FF-95E5-5AA52BA319A0}"/>
              </a:ext>
            </a:extLst>
          </p:cNvPr>
          <p:cNvSpPr>
            <a:spLocks xmlns:a="http://schemas.openxmlformats.org/drawingml/2006/main" noGrp="1"/>
          </p:cNvSpPr>
          <p:nvPr/>
        </p:nvSpPr>
        <p:spPr>
          <a:xfrm xmlns:a="http://schemas.openxmlformats.org/drawingml/2006/main">
            <a:off x="6381750" y="3124200"/>
            <a:ext cx="5048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100" b="0">
                <a:solidFill>
                  <a:srgbClr val="13294B"/>
                </a:solidFill>
                <a:latin typeface="Arial"/>
                <a:ea typeface="Arial"/>
                <a:cs typeface="Arial"/>
              </a:defRPr>
            </a:defPPr>
            <a:lvl1pPr>
              <a:defRPr sz="2100" b="0">
                <a:solidFill>
                  <a:srgbClr val="13294B"/>
                </a:solidFill>
                <a:latin typeface="Arial"/>
                <a:ea typeface="Arial"/>
                <a:cs typeface="Arial"/>
              </a:defRPr>
            </a:lvl1pPr>
            <a:lvl2pPr>
              <a:defRPr sz="2100" b="0">
                <a:solidFill>
                  <a:srgbClr val="13294B"/>
                </a:solidFill>
                <a:latin typeface="Arial"/>
                <a:ea typeface="Arial"/>
                <a:cs typeface="Arial"/>
              </a:defRPr>
            </a:lvl2pPr>
            <a:lvl3pPr>
              <a:defRPr sz="2100" b="0">
                <a:solidFill>
                  <a:srgbClr val="13294B"/>
                </a:solidFill>
                <a:latin typeface="Arial"/>
                <a:ea typeface="Arial"/>
                <a:cs typeface="Arial"/>
              </a:defRPr>
            </a:lvl3pPr>
            <a:lvl4pPr>
              <a:defRPr sz="2100" b="0">
                <a:solidFill>
                  <a:srgbClr val="13294B"/>
                </a:solidFill>
                <a:latin typeface="Arial"/>
                <a:ea typeface="Arial"/>
                <a:cs typeface="Arial"/>
              </a:defRPr>
            </a:lvl4pPr>
            <a:lvl5pPr>
              <a:defRPr sz="2100" b="0">
                <a:solidFill>
                  <a:srgbClr val="13294B"/>
                </a:solidFill>
                <a:latin typeface="Arial"/>
                <a:ea typeface="Arial"/>
                <a:cs typeface="Arial"/>
              </a:defRPr>
            </a:lvl5pPr>
            <a:lvl6pPr>
              <a:defRPr sz="2100" b="0">
                <a:solidFill>
                  <a:srgbClr val="13294B"/>
                </a:solidFill>
                <a:latin typeface="Arial"/>
                <a:ea typeface="Arial"/>
                <a:cs typeface="Arial"/>
              </a:defRPr>
            </a:lvl6pPr>
            <a:lvl7pPr>
              <a:defRPr sz="2100" b="0">
                <a:solidFill>
                  <a:srgbClr val="13294B"/>
                </a:solidFill>
                <a:latin typeface="Arial"/>
                <a:ea typeface="Arial"/>
                <a:cs typeface="Arial"/>
              </a:defRPr>
            </a:lvl7pPr>
            <a:lvl8pPr>
              <a:defRPr sz="2100" b="0">
                <a:solidFill>
                  <a:srgbClr val="13294B"/>
                </a:solidFill>
                <a:latin typeface="Arial"/>
                <a:ea typeface="Arial"/>
                <a:cs typeface="Arial"/>
              </a:defRPr>
            </a:lvl8pPr>
            <a:lvl9pPr>
              <a:defRPr sz="2100" b="0">
                <a:solidFill>
                  <a:srgbClr val="13294B"/>
                </a:solidFill>
                <a:latin typeface="Arial"/>
                <a:ea typeface="Arial"/>
                <a:cs typeface="Arial"/>
              </a:defRPr>
            </a:lvl9pPr>
          </a:lstStyle>
          <a:p xmlns:a="http://schemas.openxmlformats.org/drawingml/2006/main">
            <a:pPr>
              <a:lnSpc>
                <a:spcPct val="115000"/>
              </a:lnSpc>
              <a:spcAft>
                <a:spcPts val="200"/>
              </a:spcAft>
            </a:pPr>
            <a:r>
              <a:rPr sz="1100" b="0">
                <a:solidFill>
                  <a:srgbClr val="13294B"/>
                </a:solidFill>
                <a:latin typeface="Arial"/>
              </a:rPr>
              <a:t>• Codebase: github.com/RaghavAgarwal08/sleeper_detection (branch raghav/probe-live-inert).</a:t>
            </a:r>
          </a:p>
          <a:p xmlns:a="http://schemas.openxmlformats.org/drawingml/2006/main">
            <a:pPr>
              <a:lnSpc>
                <a:spcPct val="115000"/>
              </a:lnSpc>
              <a:spcAft>
                <a:spcPts val="200"/>
              </a:spcAft>
            </a:pPr>
            <a:r>
              <a:rPr sz="1100" b="0">
                <a:solidFill>
                  <a:srgbClr val="13294B"/>
                </a:solidFill>
                <a:latin typeface="Arial"/>
              </a:rPr>
              <a:t>• Evaluation Scripts: Fully reproducible via interp/probe_live_inert/jev_baseline.py and interp/detector_demo.py.</a:t>
            </a:r>
          </a:p>
          <a:p xmlns:a="http://schemas.openxmlformats.org/drawingml/2006/main">
            <a:pPr>
              <a:lnSpc>
                <a:spcPct val="115000"/>
              </a:lnSpc>
              <a:spcAft>
                <a:spcPts val="200"/>
              </a:spcAft>
            </a:pPr>
            <a:r>
              <a:rPr sz="1100" b="0">
                <a:solidFill>
                  <a:srgbClr val="13294B"/>
                </a:solidFill>
                <a:latin typeface="Arial"/>
              </a:rPr>
              <a:t>• Artifacts: Benchmark logs, activation indices, and JSON reports cached in results/.</a:t>
            </a:r>
          </a:p>
        </p:txBody>
      </p:sp>
      <p:sp>
        <p:nvSpPr>
          <p:cNvPr id="10" name="">
            <a:extLst xmlns:a="http://schemas.openxmlformats.org/drawingml/2006/main">
              <a:ext uri="{FF2B5EF4-FFF2-40B4-BE49-F238E27FC236}">
                <a16:creationId xmlns:a16="http://schemas.microsoft.com/office/drawing/2014/main" id="{5896596D-8DD7-4DC0-8CBE-AF98F59F6CE9}"/>
              </a:ext>
            </a:extLst>
          </p:cNvPr>
          <p:cNvSpPr>
            <a:spLocks xmlns:a="http://schemas.openxmlformats.org/drawingml/2006/main" noGrp="1"/>
          </p:cNvSpPr>
          <p:nvPr/>
        </p:nvSpPr>
        <p:spPr>
          <a:xfrm xmlns:a="http://schemas.openxmlformats.org/drawingml/2006/main">
            <a:off x="609600" y="4810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FF5F05"/>
                </a:solidFill>
                <a:latin typeface="Courier New"/>
                <a:ea typeface="Courier New"/>
                <a:cs typeface="Courier New"/>
              </a:defRPr>
            </a:defPPr>
            <a:lvl1pPr>
              <a:defRPr sz="1350" b="1">
                <a:solidFill>
                  <a:srgbClr val="FF5F05"/>
                </a:solidFill>
                <a:latin typeface="Courier New"/>
                <a:ea typeface="Courier New"/>
                <a:cs typeface="Courier New"/>
              </a:defRPr>
            </a:lvl1pPr>
            <a:lvl2pPr>
              <a:defRPr sz="1350" b="1">
                <a:solidFill>
                  <a:srgbClr val="FF5F05"/>
                </a:solidFill>
                <a:latin typeface="Courier New"/>
                <a:ea typeface="Courier New"/>
                <a:cs typeface="Courier New"/>
              </a:defRPr>
            </a:lvl2pPr>
            <a:lvl3pPr>
              <a:defRPr sz="1350" b="1">
                <a:solidFill>
                  <a:srgbClr val="FF5F05"/>
                </a:solidFill>
                <a:latin typeface="Courier New"/>
                <a:ea typeface="Courier New"/>
                <a:cs typeface="Courier New"/>
              </a:defRPr>
            </a:lvl3pPr>
            <a:lvl4pPr>
              <a:defRPr sz="1350" b="1">
                <a:solidFill>
                  <a:srgbClr val="FF5F05"/>
                </a:solidFill>
                <a:latin typeface="Courier New"/>
                <a:ea typeface="Courier New"/>
                <a:cs typeface="Courier New"/>
              </a:defRPr>
            </a:lvl4pPr>
            <a:lvl5pPr>
              <a:defRPr sz="1350" b="1">
                <a:solidFill>
                  <a:srgbClr val="FF5F05"/>
                </a:solidFill>
                <a:latin typeface="Courier New"/>
                <a:ea typeface="Courier New"/>
                <a:cs typeface="Courier New"/>
              </a:defRPr>
            </a:lvl5pPr>
            <a:lvl6pPr>
              <a:defRPr sz="1350" b="1">
                <a:solidFill>
                  <a:srgbClr val="FF5F05"/>
                </a:solidFill>
                <a:latin typeface="Courier New"/>
                <a:ea typeface="Courier New"/>
                <a:cs typeface="Courier New"/>
              </a:defRPr>
            </a:lvl6pPr>
            <a:lvl7pPr>
              <a:defRPr sz="1350" b="1">
                <a:solidFill>
                  <a:srgbClr val="FF5F05"/>
                </a:solidFill>
                <a:latin typeface="Courier New"/>
                <a:ea typeface="Courier New"/>
                <a:cs typeface="Courier New"/>
              </a:defRPr>
            </a:lvl7pPr>
            <a:lvl8pPr>
              <a:defRPr sz="1350" b="1">
                <a:solidFill>
                  <a:srgbClr val="FF5F05"/>
                </a:solidFill>
                <a:latin typeface="Courier New"/>
                <a:ea typeface="Courier New"/>
                <a:cs typeface="Courier New"/>
              </a:defRPr>
            </a:lvl8pPr>
            <a:lvl9pPr>
              <a:defRPr sz="1350" b="1">
                <a:solidFill>
                  <a:srgbClr val="FF5F05"/>
                </a:solidFill>
                <a:latin typeface="Courier New"/>
                <a:ea typeface="Courier New"/>
                <a:cs typeface="Courier New"/>
              </a:defRPr>
            </a:lvl9pPr>
          </a:lstStyle>
          <a:p xmlns:a="http://schemas.openxmlformats.org/drawingml/2006/main">
            <a:pPr>
              <a:defRPr sz="1350" b="1">
                <a:solidFill>
                  <a:srgbClr val="FF5F05"/>
                </a:solidFill>
                <a:latin typeface="Courier New"/>
                <a:ea typeface="Courier New"/>
                <a:cs typeface="Courier New"/>
              </a:defRPr>
            </a:pPr>
            <a:r>
              <a:rPr sz="1350" b="1">
                <a:solidFill>
                  <a:srgbClr val="FF5F05"/>
                </a:solidFill>
                <a:latin typeface="Courier New"/>
                <a:ea typeface="Courier New"/>
                <a:cs typeface="Courier New"/>
              </a:rPr>
              <a:t>REFERENCE / SOURCE</a:t>
            </a:r>
          </a:p>
        </p:txBody>
      </p:sp>
      <p:sp>
        <p:nvSpPr>
          <p:cNvPr id="11" name="">
            <a:extLst xmlns:a="http://schemas.openxmlformats.org/drawingml/2006/main">
              <a:ext uri="{FF2B5EF4-FFF2-40B4-BE49-F238E27FC236}">
                <a16:creationId xmlns:a16="http://schemas.microsoft.com/office/drawing/2014/main" id="{D9730E6A-77A0-44C1-83F4-2DC37980E847}"/>
              </a:ext>
            </a:extLst>
          </p:cNvPr>
          <p:cNvSpPr>
            <a:spLocks xmlns:a="http://schemas.openxmlformats.org/drawingml/2006/main" noGrp="1"/>
          </p:cNvSpPr>
          <p:nvPr/>
        </p:nvSpPr>
        <p:spPr>
          <a:xfrm xmlns:a="http://schemas.openxmlformats.org/drawingml/2006/main">
            <a:off x="609600" y="52578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lstStyle xmlns:a="http://schemas.openxmlformats.org/drawingml/2006/main">
            <a:defPPr>
              <a:defRPr sz="2025" b="0">
                <a:solidFill>
                  <a:srgbClr val="13294B"/>
                </a:solidFill>
                <a:latin typeface="Arial"/>
                <a:ea typeface="Arial"/>
                <a:cs typeface="Arial"/>
              </a:defRPr>
            </a:defPPr>
            <a:lvl1pPr>
              <a:defRPr sz="2025" b="0">
                <a:solidFill>
                  <a:srgbClr val="13294B"/>
                </a:solidFill>
                <a:latin typeface="Arial"/>
                <a:ea typeface="Arial"/>
                <a:cs typeface="Arial"/>
              </a:defRPr>
            </a:lvl1pPr>
            <a:lvl2pPr>
              <a:defRPr sz="2025" b="0">
                <a:solidFill>
                  <a:srgbClr val="13294B"/>
                </a:solidFill>
                <a:latin typeface="Arial"/>
                <a:ea typeface="Arial"/>
                <a:cs typeface="Arial"/>
              </a:defRPr>
            </a:lvl2pPr>
            <a:lvl3pPr>
              <a:defRPr sz="2025" b="0">
                <a:solidFill>
                  <a:srgbClr val="13294B"/>
                </a:solidFill>
                <a:latin typeface="Arial"/>
                <a:ea typeface="Arial"/>
                <a:cs typeface="Arial"/>
              </a:defRPr>
            </a:lvl3pPr>
            <a:lvl4pPr>
              <a:defRPr sz="2025" b="0">
                <a:solidFill>
                  <a:srgbClr val="13294B"/>
                </a:solidFill>
                <a:latin typeface="Arial"/>
                <a:ea typeface="Arial"/>
                <a:cs typeface="Arial"/>
              </a:defRPr>
            </a:lvl4pPr>
            <a:lvl5pPr>
              <a:defRPr sz="2025" b="0">
                <a:solidFill>
                  <a:srgbClr val="13294B"/>
                </a:solidFill>
                <a:latin typeface="Arial"/>
                <a:ea typeface="Arial"/>
                <a:cs typeface="Arial"/>
              </a:defRPr>
            </a:lvl5pPr>
            <a:lvl6pPr>
              <a:defRPr sz="2025" b="0">
                <a:solidFill>
                  <a:srgbClr val="13294B"/>
                </a:solidFill>
                <a:latin typeface="Arial"/>
                <a:ea typeface="Arial"/>
                <a:cs typeface="Arial"/>
              </a:defRPr>
            </a:lvl6pPr>
            <a:lvl7pPr>
              <a:defRPr sz="2025" b="0">
                <a:solidFill>
                  <a:srgbClr val="13294B"/>
                </a:solidFill>
                <a:latin typeface="Arial"/>
                <a:ea typeface="Arial"/>
                <a:cs typeface="Arial"/>
              </a:defRPr>
            </a:lvl7pPr>
            <a:lvl8pPr>
              <a:defRPr sz="2025" b="0">
                <a:solidFill>
                  <a:srgbClr val="13294B"/>
                </a:solidFill>
                <a:latin typeface="Arial"/>
                <a:ea typeface="Arial"/>
                <a:cs typeface="Arial"/>
              </a:defRPr>
            </a:lvl8pPr>
            <a:lvl9pPr>
              <a:defRPr sz="2025" b="0">
                <a:solidFill>
                  <a:srgbClr val="13294B"/>
                </a:solidFill>
                <a:latin typeface="Arial"/>
                <a:ea typeface="Arial"/>
                <a:cs typeface="Arial"/>
              </a:defRPr>
            </a:lvl9pPr>
          </a:lstStyle>
          <a:p xmlns:a="http://schemas.openxmlformats.org/drawingml/2006/main">
            <a:pPr>
              <a:lnSpc>
                <a:spcPct val="115000"/>
              </a:lnSpc>
              <a:spcAft>
                <a:spcPts val="200"/>
              </a:spcAft>
            </a:pPr>
            <a:r>
              <a:rPr sz="1150" b="0">
                <a:solidFill>
                  <a:srgbClr val="13294B"/>
                </a:solidFill>
                <a:latin typeface="Arial"/>
              </a:rPr>
              <a:t>• Li et al. (2026), 'Sleeper Attacks on Autonomous LLM Agents via Persistent Memory'</a:t>
            </a:r>
          </a:p>
          <a:p xmlns:a="http://schemas.openxmlformats.org/drawingml/2006/main">
            <a:pPr>
              <a:lnSpc>
                <a:spcPct val="115000"/>
              </a:lnSpc>
              <a:spcAft>
                <a:spcPts val="200"/>
              </a:spcAft>
            </a:pPr>
            <a:r>
              <a:rPr sz="1150" b="0">
                <a:solidFill>
                  <a:srgbClr val="13294B"/>
                </a:solidFill>
                <a:latin typeface="Arial"/>
              </a:rPr>
              <a:t>• Zou et al. (2023), 'Representation Engineering: A Top-Down Approach to AI Transparency'</a:t>
            </a:r>
          </a:p>
          <a:p xmlns:a="http://schemas.openxmlformats.org/drawingml/2006/main">
            <a:pPr>
              <a:lnSpc>
                <a:spcPct val="115000"/>
              </a:lnSpc>
              <a:spcAft>
                <a:spcPts val="200"/>
              </a:spcAft>
            </a:pPr>
            <a:r>
              <a:rPr sz="1150" b="0">
                <a:solidFill>
                  <a:srgbClr val="13294B"/>
                </a:solidFill>
                <a:latin typeface="Arial"/>
              </a:rPr>
              <a:t>• TypeSafe Decisions API (~typesafe/jev-latest), OpenRouter Security Evaluation Benchmark</a:t>
            </a:r>
          </a:p>
        </p:txBody>
      </p:sp>
    </p:spTree>
    <p:extLst>
      <p:ext uri="{BB962C8B-B14F-4D97-AF65-F5344CB8AC3E}">
        <p14:creationId xmlns:p14="http://schemas.microsoft.com/office/powerpoint/2010/main" val="1232182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2026-10-26T23:51:43.1620000Z</dcterms:created>
  <dcterms:modified xsi:type="dcterms:W3CDTF">2026-10-26T23:51:43.1620000Z</dcterms:modified>
</coreProperties>
</file>