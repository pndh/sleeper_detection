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c4c29236edf4ad2" Type="http://schemas.openxmlformats.org/package/2006/relationships/metadata/core-properties" Target="docProps/core.xml"/><Relationship Id="R70b500f6916d4d50" Type="http://schemas.openxmlformats.org/officeDocument/2006/relationships/extended-properties" Target="docProps/app.xml"/><Relationship Id="Rd739b9bf36bd4a0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8a5c36824418e"/>
  </p:sldMasterIdLst>
  <p:notesMasterIdLst>
    <p:notesMasterId xmlns:r="http://schemas.openxmlformats.org/officeDocument/2006/relationships" r:id="R565cf14bc9904ee7"/>
  </p:notesMasterIdLst>
  <p:sldIdLst>
    <p:sldId xmlns:r="http://schemas.openxmlformats.org/officeDocument/2006/relationships" id="256" r:id="R7964a856f536470b"/>
    <p:sldId xmlns:r="http://schemas.openxmlformats.org/officeDocument/2006/relationships" id="257" r:id="Rad4fc34f73ca4d07"/>
    <p:sldId xmlns:r="http://schemas.openxmlformats.org/officeDocument/2006/relationships" id="258" r:id="R05075c61122c44d3"/>
    <p:sldId xmlns:r="http://schemas.openxmlformats.org/officeDocument/2006/relationships" id="259" r:id="R5cd745ae093c4c60"/>
    <p:sldId xmlns:r="http://schemas.openxmlformats.org/officeDocument/2006/relationships" id="260" r:id="R92231d39ba794684"/>
    <p:sldId xmlns:r="http://schemas.openxmlformats.org/officeDocument/2006/relationships" id="261" r:id="Rbb4a0aef529044a5"/>
    <p:sldId xmlns:r="http://schemas.openxmlformats.org/officeDocument/2006/relationships" id="262" r:id="R1d1947e974e14969"/>
    <p:sldId xmlns:r="http://schemas.openxmlformats.org/officeDocument/2006/relationships" id="263" r:id="R1e2cd040a7204ded"/>
    <p:sldId xmlns:r="http://schemas.openxmlformats.org/officeDocument/2006/relationships" id="264" r:id="R9573238189ac4f15"/>
    <p:sldId xmlns:r="http://schemas.openxmlformats.org/officeDocument/2006/relationships" id="265" r:id="Ra5b5c7cf59404f4e"/>
    <p:sldId xmlns:r="http://schemas.openxmlformats.org/officeDocument/2006/relationships" id="266" r:id="Rfde17188f1fc4cf8"/>
    <p:sldId xmlns:r="http://schemas.openxmlformats.org/officeDocument/2006/relationships" id="267" r:id="R1969fa21232449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075c61122c44d3" Type="http://schemas.openxmlformats.org/officeDocument/2006/relationships/slide" Target="slides/slide3.xml"/><Relationship Id="R1969fa212324496e" Type="http://schemas.openxmlformats.org/officeDocument/2006/relationships/slide" Target="slides/slide12.xml"/><Relationship Id="R1d1947e974e14969" Type="http://schemas.openxmlformats.org/officeDocument/2006/relationships/slide" Target="slides/slide7.xml"/><Relationship Id="R1e2cd040a7204ded" Type="http://schemas.openxmlformats.org/officeDocument/2006/relationships/slide" Target="slides/slide8.xml"/><Relationship Id="R565cf14bc9904ee7" Type="http://schemas.openxmlformats.org/officeDocument/2006/relationships/notesMaster" Target="notesMasters/notesMaster1.xml"/><Relationship Id="R5cd745ae093c4c60" Type="http://schemas.openxmlformats.org/officeDocument/2006/relationships/slide" Target="slides/slide4.xml"/><Relationship Id="R7964a856f536470b" Type="http://schemas.openxmlformats.org/officeDocument/2006/relationships/slide" Target="slides/slide1.xml"/><Relationship Id="R92231d39ba794684" Type="http://schemas.openxmlformats.org/officeDocument/2006/relationships/slide" Target="slides/slide5.xml"/><Relationship Id="R93915de22e554583" Type="http://schemas.openxmlformats.org/officeDocument/2006/relationships/presProps" Target="presProps.xml"/><Relationship Id="R9573238189ac4f15" Type="http://schemas.openxmlformats.org/officeDocument/2006/relationships/slide" Target="slides/slide9.xml"/><Relationship Id="Ra5b5c7cf59404f4e" Type="http://schemas.openxmlformats.org/officeDocument/2006/relationships/slide" Target="slides/slide10.xml"/><Relationship Id="Rad4fc34f73ca4d07" Type="http://schemas.openxmlformats.org/officeDocument/2006/relationships/slide" Target="slides/slide2.xml"/><Relationship Id="Rb278a5c36824418e" Type="http://schemas.openxmlformats.org/officeDocument/2006/relationships/slideMaster" Target="slideMasters/slideMaster1.xml"/><Relationship Id="Rbb4a0aef529044a5" Type="http://schemas.openxmlformats.org/officeDocument/2006/relationships/slide" Target="slides/slide6.xml"/><Relationship Id="Rd743b93aff8842b7" Type="http://schemas.openxmlformats.org/officeDocument/2006/relationships/tableStyles" Target="tableStyles.xml"/><Relationship Id="Rdcaac1669b2c4d69" Type="http://schemas.openxmlformats.org/officeDocument/2006/relationships/theme" Target="theme/theme1.xml"/><Relationship Id="Rfde17188f1fc4cf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7676aaccf96a4a4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1ee180138434f8f" Type="http://schemas.openxmlformats.org/officeDocument/2006/relationships/slide" Target="../slides/slide1.xml"/><Relationship Id="Rab904cefa969419e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d9615d6c2e9437a" Type="http://schemas.openxmlformats.org/officeDocument/2006/relationships/notesMaster" Target="../notesMasters/notesMaster1.xml"/><Relationship Id="R98bb2d7053e94ec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433ede618314bc0" Type="http://schemas.openxmlformats.org/officeDocument/2006/relationships/notesMaster" Target="../notesMasters/notesMaster1.xml"/><Relationship Id="R9ea8b81c5cba4fa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8a55bc3cb9c4c30" Type="http://schemas.openxmlformats.org/officeDocument/2006/relationships/slide" Target="../slides/slide4.xml"/><Relationship Id="Ra6d2bd39aa6d438b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1acc0704e1a48f5" Type="http://schemas.openxmlformats.org/officeDocument/2006/relationships/slide" Target="../slides/slide5.xml"/><Relationship Id="Rfea435589afc498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9288014fab064bb6" Type="http://schemas.openxmlformats.org/officeDocument/2006/relationships/slide" Target="../slides/slide6.xml"/><Relationship Id="Rc6aa5f2eb23b4c3a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01a77593038430b" Type="http://schemas.openxmlformats.org/officeDocument/2006/relationships/notesMaster" Target="../notesMasters/notesMaster1.xml"/><Relationship Id="Rdc58ced9a5c84a8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c2038e260a64d16" Type="http://schemas.openxmlformats.org/officeDocument/2006/relationships/slide" Target="../slides/slide8.xml"/><Relationship Id="R6d6f2a73317d4d1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bb8eaa47e45846ab" Type="http://schemas.openxmlformats.org/officeDocument/2006/relationships/slide" Target="../slides/slide9.xml"/><Relationship Id="Rfa332feb579a41c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d09d8626f5e14ad6" Type="http://schemas.openxmlformats.org/officeDocument/2006/relationships/slide" Target="../slides/slide10.xml"/><Relationship Id="Rfb2765d1cb834ac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14f1420191c402e" Type="http://schemas.openxmlformats.org/officeDocument/2006/relationships/slide" Target="../slides/slide11.xml"/><Relationship Id="Rb08b9e74ed29440f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7d5bbad4989e4754" Type="http://schemas.openxmlformats.org/officeDocument/2006/relationships/slide" Target="../slides/slide12.xml"/><Relationship Id="Re486fe53c3b4486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  <a:p xmlns:a="http://schemas.openxmlformats.org/drawingml/2006/main">
            <a:br/>
            <a:r>
              <a:t>Suggested presentation length: 8–10 minutes plus discussion. Duplicate results or appendix slides as needed; remove unused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  <a:p xmlns:a="http://schemas.openxmlformats.org/drawingml/2006/main">
            <a:br/>
            <a:r>
              <a:t>Replace the figure placeholder with an actual plot or an editable chart. Do not leave illustrative values in the final talk. Distinguish measured evidence from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placeholders. Keep one main message per slide. Design reference and owl asset: https://aialignmentillinois.org/ and https://aialignmentillinois.org/brand/owl.png . Website-inspired navy/orange palette and typography hierarchy; Arial and Courier New used for portability.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231ae2eaae9427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5f1ae0e139eb476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3c8cf1d22917405c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f185fcb6c9449c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66e090264e3c442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2c8279ead89464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8AE317-CB80-4B20-9A7A-9D2E09FAF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FE2480-57FA-4028-8D81-1013CB7C07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B1CA14-C2E8-4954-803F-4210D48AA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03A40A-37A4-45C8-A4A2-93F78FFA0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5E19AE-62C2-4B79-BD5A-6F76AD6EE8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E0B309-BF48-412D-902A-CDD780364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B54E57-BBA2-42DC-9853-B5F9E9F58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460022-728D-443E-BC1D-5B2F681551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A79BED-9E0F-4116-9430-437D06BD8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D3667B-EAB0-4FAE-A254-B3310F5DC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cdc325f9b314f55" Type="http://schemas.openxmlformats.org/officeDocument/2006/relationships/slideLayout" Target="../slideLayouts/slideLayout1.xml"/><Relationship Id="R689f8f269a224103" Type="http://schemas.openxmlformats.org/officeDocument/2006/relationships/slideLayout" Target="../slideLayouts/slideLayout6.xml"/><Relationship Id="R93495d77bc8d4b95" Type="http://schemas.openxmlformats.org/officeDocument/2006/relationships/slideLayout" Target="../slideLayouts/slideLayout2.xml"/><Relationship Id="R9fb8bd33d6cb40d6" Type="http://schemas.openxmlformats.org/officeDocument/2006/relationships/slideLayout" Target="../slideLayouts/slideLayout5.xml"/><Relationship Id="Ra4721e2a72174a9e" Type="http://schemas.openxmlformats.org/officeDocument/2006/relationships/slideLayout" Target="../slideLayouts/slideLayout4.xml"/><Relationship Id="Ra5d2ade9e5954261" Type="http://schemas.openxmlformats.org/officeDocument/2006/relationships/theme" Target="theme/theme2.xml"/><Relationship Id="Rd735f6407fc14bb7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dc325f9b314f55"/>
    <p:sldLayoutId xmlns:r="http://schemas.openxmlformats.org/officeDocument/2006/relationships" id="2147483650" r:id="R93495d77bc8d4b95"/>
    <p:sldLayoutId xmlns:r="http://schemas.openxmlformats.org/officeDocument/2006/relationships" id="2147483651" r:id="Rd735f6407fc14bb7"/>
    <p:sldLayoutId xmlns:r="http://schemas.openxmlformats.org/officeDocument/2006/relationships" id="2147483652" r:id="Ra4721e2a72174a9e"/>
    <p:sldLayoutId xmlns:r="http://schemas.openxmlformats.org/officeDocument/2006/relationships" id="2147483653" r:id="R9fb8bd33d6cb40d6"/>
    <p:sldLayoutId xmlns:r="http://schemas.openxmlformats.org/officeDocument/2006/relationships" id="2147483654" r:id="R689f8f269a2241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db40f00e472486b" Type="http://schemas.openxmlformats.org/officeDocument/2006/relationships/notesSlide" Target="../notesSlides/notesSlide1.xml"/><Relationship Id="R91bb64ba32604d1b" Type="http://schemas.openxmlformats.org/officeDocument/2006/relationships/slideLayout" Target="../slideLayouts/slideLayout6.xml"/><Relationship Id="Rbbecd53d7b484831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2a11f5e505594e30" Type="http://schemas.openxmlformats.org/officeDocument/2006/relationships/slideLayout" Target="../slideLayouts/slideLayout6.xml"/><Relationship Id="Rdd1ffe0effcc4c8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7d4db6d6ae541b0" Type="http://schemas.openxmlformats.org/officeDocument/2006/relationships/slideLayout" Target="../slideLayouts/slideLayout6.xml"/><Relationship Id="R6130226a442e422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02aab0496144440" Type="http://schemas.openxmlformats.org/officeDocument/2006/relationships/slideLayout" Target="../slideLayouts/slideLayout6.xml"/><Relationship Id="R81d4b05a4ce64b7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d17737e1abee476d" Type="http://schemas.openxmlformats.org/officeDocument/2006/relationships/slideLayout" Target="../slideLayouts/slideLayout6.xml"/><Relationship Id="Rdde1792a5d7540b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f483bfe94f149a6" Type="http://schemas.openxmlformats.org/officeDocument/2006/relationships/notesSlide" Target="../notesSlides/notesSlide6.xml"/><Relationship Id="R78ee338b236e4b5a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3a566bab3f1d4ce3" Type="http://schemas.openxmlformats.org/officeDocument/2006/relationships/notesSlide" Target="../notesSlides/notesSlide7.xml"/><Relationship Id="R498cd30c3fa04beb" Type="http://schemas.openxmlformats.org/officeDocument/2006/relationships/slideLayout" Target="../slideLayouts/slideLayout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1875c59a08cf4e8e" Type="http://schemas.openxmlformats.org/officeDocument/2006/relationships/slideLayout" Target="../slideLayouts/slideLayout6.xml"/><Relationship Id="Re5b0537edd75476b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e2494c819844686" Type="http://schemas.openxmlformats.org/officeDocument/2006/relationships/slideLayout" Target="../slideLayouts/slideLayout6.xml"/><Relationship Id="R72d201e888084f5d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646026abd8b94ba5" Type="http://schemas.openxmlformats.org/officeDocument/2006/relationships/notesSlide" Target="../notesSlides/notesSlide10.xml"/><Relationship Id="Rded38aad92044dd0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0514119ecf084f5d" Type="http://schemas.openxmlformats.org/officeDocument/2006/relationships/notesSlide" Target="../notesSlides/notesSlide11.xml"/><Relationship Id="Rc66c27230e5e42b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7b017acdd558479e" Type="http://schemas.openxmlformats.org/officeDocument/2006/relationships/notesSlide" Target="../notesSlides/notesSlide12.xml"/><Relationship Id="Rab0aa2d5742b4938" Type="http://schemas.openxmlformats.org/officeDocument/2006/relationships/slideLayout" Target="../slideLayouts/slideLayout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EA8DC-355C-4D70-8AAC-2D207C8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2DFCA-CED0-4882-9CFA-364976C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5F05"/>
                </a:solidFill>
                <a:latin typeface="Courier New"/>
              </a:rPr>
              <a:t>AIA @ ILLINOIS  /  FALL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99395-6DDB-4E2E-835D-4D644748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Midpoint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BF819-A5B8-43C5-AC04-D21822C3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C6C7C6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A8281-D470-42CF-AF63-5819A530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9FB00-5DE5-4C63-A49E-FD724AAD8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cd53d7b484831"/>
          <a:stretch xmlns:a="http://schemas.openxmlformats.org/drawingml/2006/main"/>
        </p:blipFill>
        <p:spPr>
          <a:xfrm xmlns:a="http://schemas.openxmlformats.org/drawingml/2006/main">
            <a:off x="9239250" y="171450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49790-F9E3-465A-A0A4-0358507D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5F0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5F05"/>
                </a:solidFill>
                <a:latin typeface="Arial"/>
              </a:rPr>
              <a:t>Dormant Poison &amp; Sleeper Instruction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5F05"/>
                </a:solidFill>
                <a:latin typeface="Arial"/>
              </a:rPr>
              <a:t>Detection in LLM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1D238-160A-476A-B50C-19EF9B55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Arial"/>
              </a:rPr>
              <a:t>Raghav Agarwal  ·  AIA Research Fellow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Arial"/>
              </a:rPr>
              <a:t>AI Alignment @ Illinois Research Fellowship  ·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94751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A1030-6BBE-4EAD-9A13-503DD029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B613C-7E4D-4014-9F15-BF85C231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F68FC-7BE3-4EA4-80AA-9F4D3980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What we know at the midpoint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96FD6-69B4-4759-8023-95285B86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8BEA2-B403-4520-8D9C-00F8B0AF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30C7A-449D-41BC-BEB5-F8B7406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 /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B49DD-D51C-4531-8BDD-5CA2640E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Arial"/>
              </a:rPr>
              <a:t>Can internal activation probing detect dormant sleeper instructions in agent memory during benign turns, before triggers fire?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B0D9D-DA71-4348-8104-05E1A84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 / CURRENT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C87C2-10EA-4153-B306-BCABC485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1.000 AUROC / 100% Recall: Separates pending instructions from inert records across held-out splits.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8× Signal Amplification: Memory tokens carry 8.02× stronger signal than prompt boundary delimiters.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F7CCE-5AE5-491F-8AF9-FCEEDCA2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 / NEXT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F0D1E-DDE0-4A4A-A632-41F57288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550" b="0">
                <a:solidFill>
                  <a:srgbClr val="13294B"/>
                </a:solidFill>
                <a:latin typeface="Arial"/>
              </a:rPr>
              <a:t>• Validate Causal Steering: Directional clamping on Layers 14–19 to prove features actively cause trigger execution.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550" b="0">
                <a:solidFill>
                  <a:srgbClr val="13294B"/>
                </a:solidFill>
                <a:latin typeface="Arial"/>
              </a:rPr>
              <a:t>• Cross-Architecture Transfer: Replicate probe extraction on dense open models (Llama-3-70B).</a:t>
            </a:r>
          </a:p>
        </p:txBody>
      </p:sp>
    </p:spTree>
    <p:extLst>
      <p:ext uri="{BB962C8B-B14F-4D97-AF65-F5344CB8AC3E}">
        <p14:creationId xmlns:p14="http://schemas.microsoft.com/office/powerpoint/2010/main" val="15784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C4C29-98F3-40C3-A7F2-B0CEF478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5EE70-C119-4F18-B06C-6145395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DBA91-A478-46D2-80FD-A5D3AD38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Why this question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2A2F3-1F64-4B74-A534-E6BA5EC9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C5331-1633-4188-90F1-CFD22236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731EE-752D-4A5E-A948-6AD4CEA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MOTIVATION /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3723C-2BC8-4813-8571-66C6D022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Persistent Memory Threat: Attackers plant sleeper notes in agent scratchpads that stay dormant until future triggers.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Text Guardrails Fail: External judges suffer 50%+ false alarms on code logs and miss disguised phrasing (10% recall).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086E8-C6BA-4A9A-9A9D-1DCE5B4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EDFE0-04CD-4E06-86B5-09BE0AF3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Mechanistic Opportunity: Transformer self-attention binds active intent into executive subspaces (Layers 14–19) before token 1.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Surface Invariance: Internal latent representations bypass surface disguise and semantic camouflage.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3D5E8-34B1-421F-B0E2-8062F970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AI SAFETY CONNECTION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1B4C0-F779-432B-86D0-C15C236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550" b="0">
                <a:solidFill>
                  <a:srgbClr val="13294B"/>
                </a:solidFill>
                <a:latin typeface="Arial"/>
              </a:rPr>
              <a:t>• Zero-Latency Preemption: Scored in &lt; 0.1 ms on GPU VRAM at $0 token cost (vs 1,500 ms / 2x cost for external LLM judges).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550" b="0">
                <a:solidFill>
                  <a:srgbClr val="13294B"/>
                </a:solidFill>
                <a:latin typeface="Arial"/>
              </a:rPr>
              <a:t>• In-Flight Intervention: Enables clamping sleeper vectors before catastrophic agent tool calls execute.</a:t>
            </a:r>
          </a:p>
        </p:txBody>
      </p:sp>
    </p:spTree>
    <p:extLst>
      <p:ext uri="{BB962C8B-B14F-4D97-AF65-F5344CB8AC3E}">
        <p14:creationId xmlns:p14="http://schemas.microsoft.com/office/powerpoint/2010/main" val="1765728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BA897-E255-4AF7-9CCA-F4CBDFCD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AEF43-5F74-4E99-BE0F-10D27257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86B8A-3C62-4DD9-A726-2BC38116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Approach &amp; experiment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C774F-C6FF-480A-B527-5011E676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14003-2903-4BF3-9C68-4FC4177C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34977-53C3-436C-B90D-EC44569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 /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FC172-6897-4CCB-9F6B-57A3BCCD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gpt-oss-20b: 25-layer MoE, 32 experts (2880 residual dim).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behavior_v1: 1,924 trigger requests across 10 enterprise domains with 43-token paired twins canceling noise.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F3C21-FFB1-4EA4-9277-B9246B0E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 /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D6CE8-974D-479B-993F-6B5B0C79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Residual Probing: Decoupled bfloat16 forward pass extracting Layers 0–24 at memory_result_end.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L2 Probing &amp; LODO: Leave-one-domain-out cross-validation testing true out-of-distribution 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23147-D118-4FDA-9191-FA9587C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86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 / MEASUREMENT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F37EF-03B0-41A1-B0CE-507AEA75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Out-of-Fold AUROC: Unseen templates (E1) &amp; domains (E2).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Operational SLA: TPR @ 5% FPR, plus Execution Prediction AUROC (Will It Fire?).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0CE79-02F7-499D-ACDD-A895D5E4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WORKING HYPOTHESIS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AA914-995B-4332-81D2-3EF5F022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WORKING HYPOTHESIS: When an agent commits to an unexecuted instruction, self-attention binds it into executive task-planning subspaces (Layers 14–19), yielding linear separability before token 1 generates.</a:t>
            </a:r>
          </a:p>
        </p:txBody>
      </p:sp>
    </p:spTree>
    <p:extLst>
      <p:ext uri="{BB962C8B-B14F-4D97-AF65-F5344CB8AC3E}">
        <p14:creationId xmlns:p14="http://schemas.microsoft.com/office/powerpoint/2010/main" val="1884329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DFBAF-82EA-4835-AF48-B802FAD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B41E-3C8E-44D3-B6C0-0DF168AB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6E377-C67C-47E3-8FED-42D099C4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Progress against the original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755A0-D5B9-48D5-A360-6517AE6C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8E9DB-8469-474C-9EDB-B5027B27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59137-AEA7-4E80-AB44-09E4BD323CA1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190750"/>
                <a:gridCol w="5353050"/>
              </a:tblGrid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Evidence / verified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Mechanistic Harness &amp; Twin Controls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1">
                          <a:solidFill>
                            <a:srgbClr val="13294B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Built bfloat16 forward pass with 93–100% rollout agreement; synthesized 43-token paired twins canceling 99.95% formatting noise.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Multi-Position Probing &amp; Layer Isolation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1">
                          <a:solidFill>
                            <a:srgbClr val="13294B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Identified 8× signal boost at memory tokens; isolated Layers 14–19 as primary planning subspace (1.000 AUROC on E1 &amp; E2).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Frontier Guard Benchmark &amp; Realism Ladder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1">
                          <a:solidFill>
                            <a:srgbClr val="13294B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50" b="0">
                          <a:solidFill>
                            <a:srgbClr val="13294B"/>
                          </a:solidFill>
                          <a:latin typeface="Arial"/>
                        </a:rPr>
                        <a:t>Benchmarked TypeSafe Jev (30% recall @ 5% FPR); proved text judges collapse to 10% recall on disguised attacks (L4).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2F060-A659-44C7-BC9E-4FC9FCB3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PLAN UPDATE  /  Expanded scope from pure activation extraction to head-to-head benchmarking against frontier guard models (Jev) and semantic camouflage, proving operational defense superiority.</a:t>
            </a:r>
          </a:p>
        </p:txBody>
      </p:sp>
    </p:spTree>
    <p:extLst>
      <p:ext uri="{BB962C8B-B14F-4D97-AF65-F5344CB8AC3E}">
        <p14:creationId xmlns:p14="http://schemas.microsoft.com/office/powerpoint/2010/main" val="804462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64440-C1F3-4BCE-8C1E-D0C2142C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5A99D-5FA6-4445-8F5D-CFD695F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9F1B1-B2DB-428A-A6C9-CA5BBC5C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Data, benchmark &amp;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BAC81-C2DA-4193-BBA6-4B62AE45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367C3-AA41-4165-BDF7-A875319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73151-8759-4F83-9323-E494F3F8FBED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Current benchmark setup (behavior_v1)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Data &amp; Coverage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behavior_v1: 1,924 agent interactions across 10 enterprise domains (Shopify, Slack, HubSpot, etc.); 6 live &amp; 6 inert templates; Realism Ladder L0–L4.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Generalization Splits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Held-out evaluation across 3 splits: E1 (unseen instruction phrasing), E2 (unseen enterprise domains), E3 (jointly unseen templates &amp; domains).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Baselines &amp; Controls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Paired control twins (format control); TF-IDF n-gram text baselines; prompt length; TypeSafe Jev Decisions API with enterprise policy.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Metrics &amp; SLA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Out-of-fold AUROC with 95% bootstrap CIs; TPR @ 5% False Positive Rate SLA; per-layer residual curve (Layers 0–24); execution prediction AUROC.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179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02C83-48F0-484D-A63A-7A2CBDF8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78B4E-FE8A-42A8-9909-CF7F8B5B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PRELIMINARY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225DB-0BEA-4B21-8202-A5525D8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2300" b="1">
                <a:solidFill>
                  <a:srgbClr val="13294B"/>
                </a:solidFill>
                <a:latin typeface="Arial"/>
              </a:rPr>
              <a:t>Internal Probes Achieve 1.00 AUROC Across Unseen Phrasing, While Text Guards Collapse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50BAF-1C87-49E9-98C4-706F4EE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1A84C-BA0E-4AF4-9EE4-9823D2B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A0AF3-163C-43BA-A66A-C1F7275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FIGURE /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65B94-DF19-4DF7-B7EE-1ACE7B75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7048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6775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79FD7-CABE-491A-9594-6518015F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0604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350D4-B311-41E9-B68E-11ACD9D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2608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3294B"/>
                </a:solidFill>
                <a:latin typeface="Arial"/>
              </a:rPr>
              <a:t>• 1.000 AUROC / 100% TPR: Generalizes across held-out phrasing (E1) and domains (E2).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3294B"/>
                </a:solidFill>
                <a:latin typeface="Arial"/>
              </a:rPr>
              <a:t>• 0.945 Execution AUROC: Probes know if a note will fire before token 1 generates.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E9592-2661-457D-8342-7BAA250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6052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7A812-7187-42BE-938F-460126DA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8056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3294B"/>
                </a:solidFill>
                <a:latin typeface="Arial"/>
              </a:rPr>
              <a:t>• Latent Commitment: Transformer binds active intent into Layers 14–19 while treating inert logs as passive context.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3294B"/>
                </a:solidFill>
                <a:latin typeface="Arial"/>
              </a:rPr>
              <a:t>• Surface Invariance: Probes score in &lt;0.1 ms; Jev drops to 30% TPR and text guards fail on disguise.</a:t>
            </a:r>
          </a:p>
        </p:txBody>
      </p:sp>
      <p:pic xmlns:a="http://schemas.openxmlformats.org/drawingml/2006/main" xmlns:r="http://schemas.openxmlformats.org/officeDocument/2006/relationships">
        <p:nvPicPr>
          <p:cNvPr id="13" name="Picture 12" descr="midpoint_key_fig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017520"/>
            <a:ext cx="7315200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91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808D4-29DD-4A7F-9CCA-6BCBD8C3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0A9C6-3EF4-454D-9E5B-E9B176B6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B427B-58DD-4EEF-9F90-A551B68D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How robust is the finding?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90B64-3BCF-4600-B3AB-8E93F1F8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5898-944C-4946-8BC7-0795B80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7AD7-369D-4910-9AEA-35C21D520F94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Current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Next 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Baseline Comparison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Probe (1.000 AUROC, 100% TPR@5%FPR) decisively beats Jev (0.816 AUROC, 30% TPR) and prompt length (0.59).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Benchmark LLaMA-Guard-3 and GPT-4o-mini under identical policy context.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Ablation &amp; Control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Paired twins eliminate 99.95% container overhead; memory token yields 8× signal boost over prompt delimiter.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Attention head ablation: patch individual heads in Layers 14–19 to isolate causal circuits.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Generalization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Zero degradation on unseen phrasing (E1: 1.000) and unseen enterprise domains (E2: 1.000).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Cross-architecture evaluation on dense models (Llama-3-70B) and multi-turn delays.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8603E-CB8A-4744-95C0-D63DAC80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Arial"/>
              </a:rPr>
              <a:t>CONFIDENCE  /  High confidence that latent states linearly separate live instructions in gpt-oss-20b; currently verifying causal steering invariance across multi-turn history.</a:t>
            </a:r>
          </a:p>
        </p:txBody>
      </p:sp>
    </p:spTree>
    <p:extLst>
      <p:ext uri="{BB962C8B-B14F-4D97-AF65-F5344CB8AC3E}">
        <p14:creationId xmlns:p14="http://schemas.microsoft.com/office/powerpoint/2010/main" val="1291178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4EF50-E410-48C4-8368-B06E0A76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1AC34-B621-40AE-B365-FE7C50E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AC693-A431-4096-AB16-96C59CF2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What is unresolved?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10CDE-BF99-4896-876A-E31A076B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ACBF8-173F-41C8-B0F5-E611DC5F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9FD87-6AE5-4430-8FB5-C302A71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1744F-877F-43E1-AF2A-4E5D4F0C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Architecture Breadth: Validated on gpt-oss-20b MoE; dense models (Llama-3-70B) may distribute planning across different depths.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Interaction Scope: behavior_v1 tests single-tool triggers; multi-agent dialogues and long-context RAG remain to be tested.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9EDBE-C419-4FBE-BF33-9FEA9DEC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BLOCKERS / RISKS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EBAE4-810B-43E4-9874-0C20A160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Causal Gap: Proving probe features actively cause trigger execution rather than merely correlating with memory structure.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3294B"/>
                </a:solidFill>
                <a:latin typeface="Arial"/>
              </a:rPr>
              <a:t>• Mitigation: Implement directional steering and activation patching on Layers 14–19 during rollouts.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E41E1-2A6F-433D-83AE-33C1DB9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3294B"/>
                </a:solidFill>
                <a:latin typeface="Arial"/>
              </a:rPr>
              <a:t>SCOPE DECISION  /  Prioritize causal steering and cross-model validation (Llama-3-70B) over expanding synthetic domain templates.</a:t>
            </a:r>
          </a:p>
        </p:txBody>
      </p:sp>
    </p:spTree>
    <p:extLst>
      <p:ext uri="{BB962C8B-B14F-4D97-AF65-F5344CB8AC3E}">
        <p14:creationId xmlns:p14="http://schemas.microsoft.com/office/powerpoint/2010/main" val="13468865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C2B1C-8AD3-4D44-853C-45FA880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C8140-57C9-43A4-B4A1-81C2C2E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RESEARCH FELLOWSHIP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A4864-8569-48CF-A002-E2A6CDE6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94B"/>
                </a:solidFill>
                <a:latin typeface="Arial"/>
                <a:ea typeface="Arial"/>
                <a:cs typeface="Arial"/>
              </a:rPr>
              <a:t>Plan for the remaining fellowship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0E775-111E-462E-89C1-E13164A3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B236A-E489-4A17-8661-D0BECDF4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2ACA3-C7A4-4778-864C-A3EF24574088}"/>
              </a:ext>
            </a:extLst>
          </p:cNvPr>
          <p:cNvGraphicFramePr/>
          <p:nvPr/>
        </p:nvGraphicFramePr>
        <p:xfrm>
          <a:off xmlns:a="http://schemas.openxmlformats.org/drawingml/2006/main" x="609600" y="2619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76750"/>
                <a:gridCol w="4400550"/>
              </a:tblGrid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Priority / experiment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Done when…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T w="9525">
                      <a:solidFill>
                        <a:srgbClr val="D6DCE5"/>
                      </a:solidFill>
                      <a:prstDash val="solid"/>
                    </a:lnT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Weeks 5–6 (Nov 1–14)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Causal Steering &amp; Activation Patching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Clamping probe vector at Layers 14–19 proves bidirectional causal control over sleeper trigger firing during rollouts.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Weeks 7–8 (Nov 15–28)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Cross-Architecture &amp; Realism Evaluation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Replicate probe extraction on Llama-3-70B; benchmark against full Realism Ladder (L0–L4 camouflage).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Weeks 9–10 (Dec 1–15)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CE5"/>
                      </a:solidFill>
                      <a:prstDash val="solid"/>
                    </a:lnL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Open-Source Defense Toolkit &amp; Paper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sz="1200" b="0">
                          <a:solidFill>
                            <a:srgbClr val="13294B"/>
                          </a:solidFill>
                          <a:latin typeface="Arial"/>
                        </a:rPr>
                        <a:t>Release modular sleeper detection middleware on GitHub; submit fellowship final report / preprint.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CE5"/>
                      </a:solidFill>
                      <a:prstDash val="solid"/>
                    </a:lnR>
                    <a:lnB w="9525">
                      <a:solidFill>
                        <a:srgbClr val="D6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3F838-712A-4233-B82E-DC6E7617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300"/>
              </a:spcAft>
            </a:pPr>
            <a:r>
              <a:rPr sz="1550" b="1">
                <a:solidFill>
                  <a:srgbClr val="13294B"/>
                </a:solidFill>
                <a:latin typeface="Arial"/>
              </a:rPr>
              <a:t>DELIVERABLES  /  Fellowship preprint  ·  Open-source detection toolkit on GitHub  ·  Interactive benchmark demo</a:t>
            </a:r>
          </a:p>
        </p:txBody>
      </p:sp>
    </p:spTree>
    <p:extLst>
      <p:ext uri="{BB962C8B-B14F-4D97-AF65-F5344CB8AC3E}">
        <p14:creationId xmlns:p14="http://schemas.microsoft.com/office/powerpoint/2010/main" val="4925573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2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A9616-D418-41B8-8C53-6E343317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F7BB9-BB70-4CE5-AEBA-FAF6E3B3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0F00D-E034-4542-A975-9EFA06C8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Feedback that would help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C5DF3-2CC4-44D6-BCA9-1104B810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C6C7C6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C6C7C6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327D5-1478-43A7-BFCC-2BF278D2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54494-CF70-48F4-B76C-D8B5FFD0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888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01 / RESEARCH 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2909F-F46C-4FEF-B2D3-76F1615B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464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Should we position the final artifact primarily as a runtime defense mechanism (zero-latency monitor beating external LLM guards) or as a mechanistic discovery paper (latent executive subspace geometry)?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87E6D-D935-4D5F-B0B8-7C27ED2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476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02 / EXPERIMENT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7E59D-3F39-40D5-8701-F3E7B4EB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052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What standard of causal evidence is most compelling to the alignment community: directional clamping, activation path patching, or end-to-end steering rollouts?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C1E41-0E9E-4572-81FB-51639015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064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03 / SUPPORT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85015-CB03-4E49-9BEE-3EDDDBB6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Access to multi-GPU (A100/H100) compute nodes to extract layerwise activations and run causal interventions on 70B+ models (Llama-3-70B, Qwen-2.5-72B).</a:t>
            </a:r>
          </a:p>
        </p:txBody>
      </p:sp>
    </p:spTree>
    <p:extLst>
      <p:ext uri="{BB962C8B-B14F-4D97-AF65-F5344CB8AC3E}">
        <p14:creationId xmlns:p14="http://schemas.microsoft.com/office/powerpoint/2010/main" val="256074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2A52A-03D6-40F3-AFDF-C2136C68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13294B"/>
                </a:solidFill>
                <a:latin typeface="Courier New"/>
                <a:ea typeface="Courier New"/>
                <a:cs typeface="Courier New"/>
              </a:rPr>
              <a:t>AI ALIGNMENT @ ILLINOIS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55C1F-10BF-42EB-AC53-73AC4E3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APPENDIX  /  OPTIONAL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88976-E363-4E6E-9028-91B8A94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3294B"/>
                </a:solidFill>
                <a:latin typeface="Arial"/>
              </a:rPr>
              <a:t>Implementation &amp; Mechanistic Probing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F353B-CD62-4982-BCB6-F9B4BEB7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7758A"/>
                </a:solidFill>
                <a:latin typeface="Courier New"/>
                <a:ea typeface="Courier New"/>
                <a:cs typeface="Courier New"/>
              </a:defRPr>
            </a:pPr>
            <a:r>
              <a:rPr sz="1000">
                <a:solidFill>
                  <a:srgbClr val="475569"/>
                </a:solidFill>
                <a:latin typeface="Courier New"/>
              </a:rPr>
              <a:t>MIDPOINT CHECKPOINT  /  DORMANT SLEEPER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0CF22-280E-4E1B-A994-4AEA0B40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11299-BB5E-423C-9CF8-8AD481F7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B4661-6DD1-4778-970E-822A950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Model &amp; Harness: gpt-oss-20b (25 layers, 32 MoE experts, 2880 dim); bfloat16 forward pass with 93–100% rollout agreement.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Linear Probing: L2 logistic probes on residual stream at memory_result_end, isolating executive Layers 14–19.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D6F58-44F3-4004-87D0-FE71ADD0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EVIDENCE / REPRODUCIBILITY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B2940-C46E-40FF-95E5-5AA52BA3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Open Codebase: github.com/RaghavAgarwal08/sleeper_detection (branch raghav/probe-live-inert).</a:t>
            </a:r>
          </a:p>
          <a:p xmlns:a="http://schemas.openxmlformats.org/drawingml/2006/main"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13294B"/>
                </a:solidFill>
                <a:latin typeface="Arial"/>
              </a:rPr>
              <a:t>• Live Benchmark Site: https://pndh.github.io/sleeper_detection/ with interactive inspector &amp;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6596D-8DD7-4DC0-8CBE-AF98F59F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632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F5F05"/>
                </a:solidFill>
                <a:latin typeface="Courier New"/>
                <a:ea typeface="Courier New"/>
                <a:cs typeface="Courier New"/>
              </a:rPr>
              <a:t>REFERENCE /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30E6A-77A0-44C1-83F4-2DC37980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208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329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3294B"/>
                </a:solidFill>
                <a:latin typeface="Arial"/>
              </a:rPr>
              <a:t>• Li et al. (2026), 'Sleeper Attacks on LLM Agents via Persistent Memory'  ·  Zou et al. (2023), 'Representation Engineering'  ·  TypeSafe Decisions API (~typesafe/jev-latest)</a:t>
            </a:r>
          </a:p>
        </p:txBody>
      </p:sp>
    </p:spTree>
    <p:extLst>
      <p:ext uri="{BB962C8B-B14F-4D97-AF65-F5344CB8AC3E}">
        <p14:creationId xmlns:p14="http://schemas.microsoft.com/office/powerpoint/2010/main" val="123218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2026-10-26T23:51:43.1620000Z</dcterms:created>
  <dcterms:modified xsi:type="dcterms:W3CDTF">2026-10-26T23:51:43.1620000Z</dcterms:modified>
</coreProperties>
</file>